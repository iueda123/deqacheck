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65" r:id="rId5"/>
    <p:sldId id="264" r:id="rId6"/>
    <p:sldId id="272" r:id="rId7"/>
    <p:sldId id="273" r:id="rId8"/>
    <p:sldId id="275" r:id="rId9"/>
    <p:sldId id="274" r:id="rId10"/>
    <p:sldId id="276" r:id="rId11"/>
    <p:sldId id="278" r:id="rId12"/>
    <p:sldId id="288" r:id="rId13"/>
    <p:sldId id="282" r:id="rId14"/>
    <p:sldId id="280" r:id="rId15"/>
    <p:sldId id="279" r:id="rId16"/>
    <p:sldId id="28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51"/>
    <a:srgbClr val="F3F3F3"/>
    <a:srgbClr val="3F51B5"/>
    <a:srgbClr val="373737"/>
    <a:srgbClr val="FFF2A3"/>
    <a:srgbClr val="FFD1A3"/>
    <a:srgbClr val="EEEEEE"/>
    <a:srgbClr val="F5F5F5"/>
    <a:srgbClr val="FFB3BA"/>
    <a:srgbClr val="5A6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4" autoAdjust="0"/>
    <p:restoredTop sz="73147" autoAdjust="0"/>
  </p:normalViewPr>
  <p:slideViewPr>
    <p:cSldViewPr snapToGrid="0">
      <p:cViewPr>
        <p:scale>
          <a:sx n="66" d="100"/>
          <a:sy n="66" d="100"/>
        </p:scale>
        <p:origin x="860" y="464"/>
      </p:cViewPr>
      <p:guideLst>
        <p:guide orient="horz" pos="2137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EF23C-7848-4249-A8E8-676F2C7345E3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2BC34-036C-4A49-86AC-0242DEF5F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78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31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15993" indent="-275382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01528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42139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82750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23361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63972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04584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45195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781EF812-076B-464C-A20F-4C21473EFBBF}" type="slidenum">
              <a:rPr lang="en-US" altLang="ja-JP" sz="1200"/>
              <a:pPr eaLnBrk="1" hangingPunct="1">
                <a:defRPr/>
              </a:pPr>
              <a:t>2</a:t>
            </a:fld>
            <a:endParaRPr lang="en-US" altLang="ja-JP" sz="1200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29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09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FC00-B1E7-6E0D-16A9-DC12C4AE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7DE27B-1712-88A4-DAD8-9BF7FC22A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53858D-1513-4C68-5D0A-C4F51197B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E2BCDA-3B84-785D-DA7E-A1EF3EF6D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91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2934-38AC-3461-3967-FF3C5B2F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A3FE7B-7CF8-95C7-3C02-557F03A41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7AD6EC-6771-6AC3-3628-69378E464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DFD025-B5BD-1D43-654D-FE3979EB9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865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B6B6-35D1-3FC8-8BA0-9F394263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251B45-5030-34AE-0DF2-63144E723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6AB678-C605-D352-FE6C-562E0860A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A57906-94E3-1C4F-821C-129DE0D69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428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89C9-06D7-7041-E383-BA18F2F2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7CB1AF-F3C9-25B6-4A53-8EE9874E3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4FE3742-1783-C488-B13E-B49664092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268A21-6222-8185-4EAD-C2723ABB2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359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BAF4-E5B0-9FEC-2918-F7FC3667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9C5690-EBBF-E4EE-C505-21BC728A4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F77088-5D6D-22C5-A0B4-6F742514B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C49929-1B98-177A-BBD2-7142C9772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76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336E-4281-FDE6-CD24-08B08A87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982395-4DA2-896E-F8F6-0E5B52767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01CB14C-B4BE-7A70-C8BC-1A399E040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B05146-4C79-945F-E2F0-403CC1B69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897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9F0E-B904-C7EF-49F2-123BA6F9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D58B9E2-132A-606F-0947-15C7D9851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B6FD92-508F-AABD-896D-914F1E292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BEAF12-0164-639D-8E0E-4DBB1B295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78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F25F-B98E-2668-8AB2-3EB77E24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CAAECBD-E40B-30C1-B693-E1BA761F9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57B662-0E0F-9DAC-26F1-13A85A25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532D32-E2FA-4F92-E57B-1939E87A6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642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9D3B-4E3A-23D0-5B98-7C759F7B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FB555A-9AAA-79A6-83A9-C0EE22D16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93EA95-4884-8936-F5A7-1AED0317E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DC9D2A-97B9-E083-0FDC-347C3CF15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365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B68A-7AE3-CE6C-EB83-ECF0761B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EE3D15-256C-D85D-4222-CCE8F14CD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853C1F-6959-F7D8-3060-E0421E346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0CD7B7-59CF-FE5B-1E9E-9B7408A6B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000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4CB4-2EE1-B329-66DC-5A245FF0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0375B8-9507-57CA-BEF4-2FCF8D90B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D8C8BD-0FD3-57E1-3F6F-7AAF44BD4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65A9F4-9283-2E35-C958-C538715BB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733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00A4-E6D6-8EF7-A941-BC305A26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8141E5-91FC-B8BC-E398-D39C0C545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1EDC55-0388-443B-8DF6-EA0D076D8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515E6-41D9-BD6E-5EF2-A7908B3FE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8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0F76F1-6B75-11E5-0169-D4A161250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AA9778-D3BD-E3D5-6727-42D6765D2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0CB91C-8650-FAB9-D4F3-FE920FD0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5DA79D-6F84-3DF2-9C60-34E7FC7D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E21630-C990-CD72-9D1A-F4048D36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6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8FE37-6391-3785-2A2A-DB295D0E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6719A8-3630-4A78-4502-00252E31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9EFDF-C87D-4A25-FB46-11DFC121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F0E532-BF16-A994-15BA-D3B08F6C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878347-2517-2E96-A665-21C8F985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3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7C180-6372-E823-A66F-8F70FF0D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418AE8-552C-089D-D108-B2984523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89A221-89D5-DEAE-A7BD-EBE7131B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BCD525-3E88-7D8A-09DF-F7892070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F4D14-404A-0C03-431D-AA868944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54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E95AF5-7C95-5949-D479-8347ADA6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FC69A6-EB67-43A7-3E53-62FFF5FBE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44BDA3-F215-752D-E7A6-51C1C2C3D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7AD7AC-2333-C8D3-E122-E4717477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DAC1D6-CB0A-E78A-BB6C-07E596A8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014673-C390-C5B6-A394-A8AD2209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95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D90E0-1AC3-800E-4F15-F6BAB261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937F73-539B-0C04-D3E1-68CB0F7DD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414C4D-027B-3F32-A31D-D22A03DF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9CD9876-5604-13A4-56D3-96E5BA0E1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91C2B85-FE2C-DF5A-AA34-19A070A1B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BF20042-2033-9DBA-1688-5F5CC0C8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1D951D-86BD-8EE0-FCE1-52D304A0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5E7712-7D63-53EF-6975-C92DF778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94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AD8A0-9C72-26B6-B833-BD213AB6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404B85-2121-3A2A-A753-5981C282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9565414-C8BE-4CDC-94A4-FD172B90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1A2973-ECA1-16D7-46F5-E8CE7882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78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A63663-F53D-A679-A747-8F01A5C0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0C8B23-7BD5-4A1C-88CC-28CD7B91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24643B-7260-8877-0D1A-4A630823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32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B773D-FBC1-FFF5-0163-291DBCDC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1813EE-CFCE-2D54-4F0C-BCA9443C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A7BD13-8A6A-914D-F67D-2CE0B223F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E32A89-0E3E-7C68-C892-5AB5AC19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39228F-2BAE-A417-70E8-7988CBF6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586236-00AA-C01C-7E2B-7A33DF6D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04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0D6AF2-2B28-1796-F09B-EDA16986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837098-B3EC-9A8F-07A2-B0DC4A299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C31F42-0B16-D18F-9902-9A5322B0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FC744D-3F1D-8B8D-3D26-C471E9F1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198E3-2787-3F21-6824-3D45747C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2A1EC5-1B85-DE9A-DD15-7B6743C5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503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94DDF-265C-D4CD-7A4B-741F3F06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7B535D-98E4-EF77-8EC5-3CE03A786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4D0AF3-D1B6-C1CB-3D5E-07F10585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048D6F-E404-6672-5300-C7FB03ED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F9BE01-960E-D2FE-9B42-96BA7512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65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A8B228-5BD4-2213-5669-85DCD589A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4B9DA0-9B6B-5630-AFAC-3A785D8EE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5A2BE4-3981-4853-8AF2-FBAE05D5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C9248E-0187-3901-EADA-642BF95C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42956D-A4A1-8D8A-E8EA-716DBF5C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2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C5D2E8-09BA-D8BC-9B8D-57EC61DF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809828-C525-5C05-ADDB-7922C3C2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A13922-5BF4-F676-0C97-E55E1BEAD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393BC-F272-4B4E-83F2-C9741DB18508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2977E4-8F3F-8F1B-D084-BD9069210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2C5A3-50F8-99D3-C136-C4A8D6E3C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83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E373D-B414-B648-77FB-A9D1B573E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059" y="1895459"/>
            <a:ext cx="10999275" cy="2387600"/>
          </a:xfrm>
        </p:spPr>
        <p:txBody>
          <a:bodyPr anchor="ctr">
            <a:noAutofit/>
          </a:bodyPr>
          <a:lstStyle/>
          <a:p>
            <a:pPr algn="l">
              <a:lnSpc>
                <a:spcPts val="5500"/>
              </a:lnSpc>
              <a:defRPr/>
            </a:pPr>
            <a:r>
              <a:rPr lang="ja-JP" altLang="ja-JP" sz="44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精神神経疾患の神経画像における</a:t>
            </a:r>
            <a:br>
              <a:rPr lang="en-US" altLang="ja-JP" sz="44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</a:br>
            <a:r>
              <a:rPr lang="en-US" altLang="ja-JP" sz="44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Normative Modeling</a:t>
            </a:r>
            <a:br>
              <a:rPr lang="en-US" altLang="ja-JP" sz="44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ja-JP" altLang="en-US" sz="30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方法</a:t>
            </a:r>
            <a:r>
              <a:rPr lang="ja-JP" altLang="ja-JP" sz="30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論的多様性と標準化に関する系統的レビュー</a:t>
            </a:r>
            <a:endParaRPr kumimoji="1" lang="ja-JP" altLang="en-US" sz="3000" b="1" dirty="0">
              <a:solidFill>
                <a:srgbClr val="1F2937"/>
              </a:solidFill>
              <a:latin typeface="+mn-ea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292999-A3C7-0371-0C12-3608BC8C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072" y="4873288"/>
            <a:ext cx="11057216" cy="1687249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defRPr/>
            </a:pPr>
            <a:r>
              <a:rPr kumimoji="0" lang="ja-JP" altLang="en-US" dirty="0">
                <a:solidFill>
                  <a:srgbClr val="374151"/>
                </a:solidFill>
                <a:latin typeface="+mn-ea"/>
              </a:rPr>
              <a:t>〇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高松 直岐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、上田 一生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、齋藤 慶人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、高橋 優輔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、惠谷 隆英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、田村 俊介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 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　髙橋 航来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、塚﨑 天輝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、渋川 周平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、平野 羊嗣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、小池 進介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、中島 振一郎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 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endParaRPr lang="en-US" altLang="ja-JP" sz="1000" dirty="0">
              <a:solidFill>
                <a:srgbClr val="374151"/>
              </a:solidFill>
              <a:latin typeface="+mn-ea"/>
            </a:endParaRPr>
          </a:p>
          <a:p>
            <a:pPr algn="l">
              <a:defRPr/>
            </a:pPr>
            <a:r>
              <a:rPr lang="ja-JP" altLang="en-US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東京大学、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メルボルン大学、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慶應義塾大学、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宮崎大学、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順天堂大学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B712A80-D9FD-59DF-7EFC-A6C6857B087B}"/>
              </a:ext>
            </a:extLst>
          </p:cNvPr>
          <p:cNvSpPr/>
          <p:nvPr/>
        </p:nvSpPr>
        <p:spPr>
          <a:xfrm>
            <a:off x="583059" y="4965567"/>
            <a:ext cx="137659" cy="134143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C237A58-4060-A0C9-EFC4-B7D8E6AB586D}"/>
              </a:ext>
            </a:extLst>
          </p:cNvPr>
          <p:cNvCxnSpPr>
            <a:cxnSpLocks/>
          </p:cNvCxnSpPr>
          <p:nvPr/>
        </p:nvCxnSpPr>
        <p:spPr>
          <a:xfrm flipV="1">
            <a:off x="690898" y="4574814"/>
            <a:ext cx="8449040" cy="32999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48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正方形/長方形 4"/>
          <p:cNvSpPr>
            <a:spLocks noChangeArrowheads="1"/>
          </p:cNvSpPr>
          <p:nvPr/>
        </p:nvSpPr>
        <p:spPr bwMode="auto">
          <a:xfrm>
            <a:off x="1690687" y="1836740"/>
            <a:ext cx="8642350" cy="4370388"/>
          </a:xfrm>
          <a:prstGeom prst="rect">
            <a:avLst/>
          </a:prstGeom>
          <a:noFill/>
          <a:ln w="38100" algn="ctr">
            <a:noFill/>
            <a:round/>
            <a:headEnd/>
            <a:tailEnd/>
          </a:ln>
        </p:spPr>
        <p:txBody>
          <a:bodyPr/>
          <a:lstStyle/>
          <a:p>
            <a:endParaRPr kumimoji="0" lang="ja-JP" altLang="en-US">
              <a:latin typeface="+mn-ea"/>
            </a:endParaRPr>
          </a:p>
        </p:txBody>
      </p:sp>
      <p:sp>
        <p:nvSpPr>
          <p:cNvPr id="2051" name="テキスト ボックス 2"/>
          <p:cNvSpPr txBox="1">
            <a:spLocks noChangeArrowheads="1"/>
          </p:cNvSpPr>
          <p:nvPr/>
        </p:nvSpPr>
        <p:spPr bwMode="auto">
          <a:xfrm>
            <a:off x="2282825" y="364172"/>
            <a:ext cx="7626350" cy="101566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【</a:t>
            </a:r>
            <a:r>
              <a:rPr lang="ja-JP" altLang="en-US" sz="2400" b="1" dirty="0">
                <a:solidFill>
                  <a:srgbClr val="006600"/>
                </a:solidFill>
                <a:latin typeface="+mn-ea"/>
              </a:rPr>
              <a:t>指定演題</a:t>
            </a: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/</a:t>
            </a:r>
            <a:r>
              <a:rPr lang="ja-JP" altLang="en-US" sz="2400" b="1" dirty="0">
                <a:solidFill>
                  <a:srgbClr val="006600"/>
                </a:solidFill>
                <a:latin typeface="+mn-ea"/>
              </a:rPr>
              <a:t>一般演題</a:t>
            </a: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】  </a:t>
            </a:r>
          </a:p>
          <a:p>
            <a:pPr algn="ctr">
              <a:spcBef>
                <a:spcPct val="50000"/>
              </a:spcBef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スライド　（開示すべき情報がない場合）</a:t>
            </a:r>
          </a:p>
        </p:txBody>
      </p:sp>
      <p:sp>
        <p:nvSpPr>
          <p:cNvPr id="13" name="正方形/長方形 5"/>
          <p:cNvSpPr>
            <a:spLocks noChangeArrowheads="1"/>
          </p:cNvSpPr>
          <p:nvPr/>
        </p:nvSpPr>
        <p:spPr bwMode="auto">
          <a:xfrm>
            <a:off x="2183590" y="1836740"/>
            <a:ext cx="82184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ja-JP" altLang="en-US" sz="2000" dirty="0">
                <a:solidFill>
                  <a:srgbClr val="374151"/>
                </a:solidFill>
                <a:latin typeface="+mn-ea"/>
              </a:rPr>
              <a:t>演題名：</a:t>
            </a:r>
            <a:r>
              <a:rPr lang="ja-JP" altLang="ja-JP" sz="2000" dirty="0">
                <a:solidFill>
                  <a:srgbClr val="374151"/>
                </a:solidFill>
                <a:latin typeface="+mn-ea"/>
              </a:rPr>
              <a:t>精神神経疾患の神経画像における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   </a:t>
            </a: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　　　</a:t>
            </a:r>
            <a:r>
              <a:rPr lang="ja-JP" altLang="ja-JP" sz="2000" dirty="0">
                <a:solidFill>
                  <a:srgbClr val="374151"/>
                </a:solidFill>
                <a:latin typeface="+mn-ea"/>
              </a:rPr>
              <a:t>方法論的多様性と標準化に関する系統的レビュー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kumimoji="0" lang="ja-JP" altLang="en-US" sz="2000" dirty="0">
                <a:solidFill>
                  <a:srgbClr val="374151"/>
                </a:solidFill>
                <a:latin typeface="+mn-ea"/>
              </a:rPr>
              <a:t>○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高松 直岐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、上田 一生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、齋藤 慶人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、高橋 優輔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、惠谷 隆英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 </a:t>
            </a: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田村 俊介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、髙橋 航来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、塚﨑 天輝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、渋川 周平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1,5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、平野 羊嗣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　</a:t>
            </a: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小池 進介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、中島 振一郎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en-US" altLang="ja-JP" sz="2000" dirty="0"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baseline="30000" dirty="0">
                <a:solidFill>
                  <a:srgbClr val="374151"/>
                </a:solidFill>
                <a:latin typeface="+mn-ea"/>
              </a:rPr>
              <a:t>　 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東京大学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メルボルン大学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慶應義塾大学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宮崎大学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順天堂大学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1880791" y="5997181"/>
            <a:ext cx="8430419" cy="65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defRPr/>
            </a:pPr>
            <a:r>
              <a:rPr lang="ja-JP" altLang="en-US" sz="2000" b="1" dirty="0">
                <a:solidFill>
                  <a:srgbClr val="1F2937"/>
                </a:solidFill>
                <a:latin typeface="+mn-ea"/>
              </a:rPr>
              <a:t>　演題発表に関連し、開示すべき</a:t>
            </a:r>
            <a:r>
              <a:rPr lang="en-US" altLang="ja-JP" sz="20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COI </a:t>
            </a:r>
            <a:r>
              <a:rPr lang="ja-JP" altLang="en-US" sz="2000" b="1" dirty="0">
                <a:solidFill>
                  <a:srgbClr val="1F2937"/>
                </a:solidFill>
                <a:latin typeface="+mn-ea"/>
              </a:rPr>
              <a:t>関係にある企業等はありません。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B32F252-ACB2-B044-2012-6F0420062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4813080"/>
            <a:ext cx="7626350" cy="79208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24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BPCNPNP2025</a:t>
            </a:r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合同年会</a:t>
            </a:r>
            <a:endParaRPr lang="en-US" altLang="ja-JP" sz="2400" b="1" dirty="0">
              <a:solidFill>
                <a:srgbClr val="1F2937"/>
              </a:solidFill>
              <a:latin typeface="+mn-ea"/>
            </a:endParaRPr>
          </a:p>
          <a:p>
            <a:pPr algn="ctr"/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筆頭発表者の</a:t>
            </a:r>
            <a:r>
              <a:rPr lang="ja-JP" altLang="en-US" sz="24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ＣＯＩ</a:t>
            </a:r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開示</a:t>
            </a:r>
            <a:endParaRPr lang="en-US" altLang="ja-JP" sz="2400" b="1" dirty="0">
              <a:solidFill>
                <a:srgbClr val="1F2937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5E9FC-CF93-9D65-CE6D-7E49DB3B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2696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背景 </a:t>
            </a:r>
            <a:r>
              <a:rPr kumimoji="1" lang="en-US" altLang="ja-JP" sz="3600" b="1" dirty="0">
                <a:solidFill>
                  <a:srgbClr val="1F2937"/>
                </a:solidFill>
                <a:latin typeface="+mn-ea"/>
                <a:ea typeface="+mn-ea"/>
              </a:rPr>
              <a:t>| 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脳画像における</a:t>
            </a:r>
            <a:r>
              <a:rPr kumimoji="1"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  <a:cs typeface="Segoe UI" panose="020B0502040204020203" pitchFamily="34" charset="0"/>
              </a:rPr>
              <a:t>の意義</a:t>
            </a:r>
            <a:endParaRPr kumimoji="1"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0A2D6D-8431-0B8C-4A9B-73306E71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18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精神疾患の神経画像研究は従来、診断カテゴリーを前提とした症例対照研究に依存してきた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が、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脳の生物学的特性には診断を超えた重複や異質性が存在し、臨床応用の障壁となっている</a:t>
            </a:r>
            <a:endParaRPr kumimoji="1"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kumimoji="1"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ja-JP" altLang="en-US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kumimoji="1"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NM) 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は健常者集団の脳計測値分布から</a:t>
            </a:r>
            <a:br>
              <a:rPr kumimoji="1" lang="en-US" altLang="ja-JP" dirty="0">
                <a:solidFill>
                  <a:srgbClr val="374151"/>
                </a:solidFill>
                <a:latin typeface="+mn-ea"/>
              </a:rPr>
            </a:b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個人の偏位を定量化し、診断カテゴリーに依存しない脳異常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評価を可能にする（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Marquand, </a:t>
            </a:r>
            <a:r>
              <a:rPr kumimoji="1" lang="en-US" altLang="ja-JP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Biol Psychiatry 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2016</a:t>
            </a:r>
            <a:r>
              <a:rPr kumimoji="1"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）</a:t>
            </a:r>
            <a:endParaRPr kumimoji="1" lang="en-US" altLang="ja-JP" dirty="0"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しかし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、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研究は手法に多様性があり</a:t>
            </a:r>
            <a:r>
              <a:rPr kumimoji="1" lang="ja-JP" altLang="en-US" u="sng" dirty="0">
                <a:solidFill>
                  <a:srgbClr val="374151"/>
                </a:solidFill>
                <a:latin typeface="+mn-ea"/>
              </a:rPr>
              <a:t>標準化が不十分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である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20B111D-C057-D6ED-AA81-DB619CF86C4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E7D205F-C6F7-0C78-DEA2-5B0CC298DCB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F63327-46F8-137F-D994-419FCF2A51F4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フリーフォーム: 図形 540">
            <a:extLst>
              <a:ext uri="{FF2B5EF4-FFF2-40B4-BE49-F238E27FC236}">
                <a16:creationId xmlns:a16="http://schemas.microsoft.com/office/drawing/2014/main" id="{28EE844E-874E-8E9C-5C40-D5AB3240C7BB}"/>
              </a:ext>
            </a:extLst>
          </p:cNvPr>
          <p:cNvSpPr/>
          <p:nvPr/>
        </p:nvSpPr>
        <p:spPr>
          <a:xfrm>
            <a:off x="6499857" y="3187129"/>
            <a:ext cx="986324" cy="894096"/>
          </a:xfrm>
          <a:custGeom>
            <a:avLst/>
            <a:gdLst>
              <a:gd name="connsiteX0" fmla="*/ 0 w 1182563"/>
              <a:gd name="connsiteY0" fmla="*/ 787455 h 787454"/>
              <a:gd name="connsiteX1" fmla="*/ 1182564 w 1182563"/>
              <a:gd name="connsiteY1" fmla="*/ 787455 h 787454"/>
              <a:gd name="connsiteX2" fmla="*/ 1182564 w 1182563"/>
              <a:gd name="connsiteY2" fmla="*/ 0 h 787454"/>
              <a:gd name="connsiteX3" fmla="*/ 0 w 1182563"/>
              <a:gd name="connsiteY3" fmla="*/ 0 h 787454"/>
              <a:gd name="connsiteX4" fmla="*/ 0 w 1182563"/>
              <a:gd name="connsiteY4" fmla="*/ 787455 h 787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563" h="787454">
                <a:moveTo>
                  <a:pt x="0" y="787455"/>
                </a:moveTo>
                <a:lnTo>
                  <a:pt x="1182564" y="787455"/>
                </a:lnTo>
                <a:lnTo>
                  <a:pt x="1182564" y="0"/>
                </a:lnTo>
                <a:lnTo>
                  <a:pt x="0" y="0"/>
                </a:lnTo>
                <a:lnTo>
                  <a:pt x="0" y="787455"/>
                </a:lnTo>
                <a:close/>
              </a:path>
            </a:pathLst>
          </a:custGeom>
          <a:noFill/>
          <a:ln w="1424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140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07" name="グラフィックス 267">
            <a:extLst>
              <a:ext uri="{FF2B5EF4-FFF2-40B4-BE49-F238E27FC236}">
                <a16:creationId xmlns:a16="http://schemas.microsoft.com/office/drawing/2014/main" id="{0171E7A7-819D-B5F8-CD76-E62B75F1A256}"/>
              </a:ext>
            </a:extLst>
          </p:cNvPr>
          <p:cNvGrpSpPr/>
          <p:nvPr/>
        </p:nvGrpSpPr>
        <p:grpSpPr>
          <a:xfrm>
            <a:off x="7547498" y="3625024"/>
            <a:ext cx="264505" cy="45719"/>
            <a:chOff x="1472830" y="5145448"/>
            <a:chExt cx="241672" cy="37975"/>
          </a:xfrm>
          <a:noFill/>
        </p:grpSpPr>
        <p:sp>
          <p:nvSpPr>
            <p:cNvPr id="708" name="フリーフォーム: 図形 707">
              <a:extLst>
                <a:ext uri="{FF2B5EF4-FFF2-40B4-BE49-F238E27FC236}">
                  <a16:creationId xmlns:a16="http://schemas.microsoft.com/office/drawing/2014/main" id="{C69ADA8B-EBBF-A0AD-59F9-A45B139563FE}"/>
                </a:ext>
              </a:extLst>
            </p:cNvPr>
            <p:cNvSpPr/>
            <p:nvPr/>
          </p:nvSpPr>
          <p:spPr>
            <a:xfrm>
              <a:off x="1472830" y="5164436"/>
              <a:ext cx="241672" cy="9493"/>
            </a:xfrm>
            <a:custGeom>
              <a:avLst/>
              <a:gdLst>
                <a:gd name="connsiteX0" fmla="*/ 0 w 241672"/>
                <a:gd name="connsiteY0" fmla="*/ 0 h 9493"/>
                <a:gd name="connsiteX1" fmla="*/ 241673 w 241672"/>
                <a:gd name="connsiteY1" fmla="*/ 0 h 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672" h="9493">
                  <a:moveTo>
                    <a:pt x="0" y="0"/>
                  </a:moveTo>
                  <a:cubicBezTo>
                    <a:pt x="85877" y="0"/>
                    <a:pt x="166432" y="0"/>
                    <a:pt x="24167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9" name="フリーフォーム: 図形 708">
              <a:extLst>
                <a:ext uri="{FF2B5EF4-FFF2-40B4-BE49-F238E27FC236}">
                  <a16:creationId xmlns:a16="http://schemas.microsoft.com/office/drawing/2014/main" id="{3DFD8C40-E8A8-AEAB-BB3F-ED9216463598}"/>
                </a:ext>
              </a:extLst>
            </p:cNvPr>
            <p:cNvSpPr/>
            <p:nvPr/>
          </p:nvSpPr>
          <p:spPr>
            <a:xfrm>
              <a:off x="1676483" y="5145448"/>
              <a:ext cx="38019" cy="37975"/>
            </a:xfrm>
            <a:custGeom>
              <a:avLst/>
              <a:gdLst>
                <a:gd name="connsiteX0" fmla="*/ 0 w 38019"/>
                <a:gd name="connsiteY0" fmla="*/ 0 h 37975"/>
                <a:gd name="connsiteX1" fmla="*/ 38020 w 38019"/>
                <a:gd name="connsiteY1" fmla="*/ 18988 h 37975"/>
                <a:gd name="connsiteX2" fmla="*/ 0 w 38019"/>
                <a:gd name="connsiteY2" fmla="*/ 37975 h 3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19" h="37975">
                  <a:moveTo>
                    <a:pt x="0" y="0"/>
                  </a:moveTo>
                  <a:lnTo>
                    <a:pt x="38020" y="18988"/>
                  </a:lnTo>
                  <a:lnTo>
                    <a:pt x="0" y="3797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10" name="グラフィックス 267">
            <a:extLst>
              <a:ext uri="{FF2B5EF4-FFF2-40B4-BE49-F238E27FC236}">
                <a16:creationId xmlns:a16="http://schemas.microsoft.com/office/drawing/2014/main" id="{62612432-E7EE-7859-FCB1-C72FB37FBB60}"/>
              </a:ext>
            </a:extLst>
          </p:cNvPr>
          <p:cNvGrpSpPr/>
          <p:nvPr/>
        </p:nvGrpSpPr>
        <p:grpSpPr>
          <a:xfrm>
            <a:off x="8920095" y="3625024"/>
            <a:ext cx="264505" cy="45719"/>
            <a:chOff x="2951039" y="5145448"/>
            <a:chExt cx="241672" cy="37975"/>
          </a:xfrm>
          <a:noFill/>
        </p:grpSpPr>
        <p:sp>
          <p:nvSpPr>
            <p:cNvPr id="711" name="フリーフォーム: 図形 710">
              <a:extLst>
                <a:ext uri="{FF2B5EF4-FFF2-40B4-BE49-F238E27FC236}">
                  <a16:creationId xmlns:a16="http://schemas.microsoft.com/office/drawing/2014/main" id="{04923089-70AC-112B-4614-A9070AC0C9D3}"/>
                </a:ext>
              </a:extLst>
            </p:cNvPr>
            <p:cNvSpPr/>
            <p:nvPr/>
          </p:nvSpPr>
          <p:spPr>
            <a:xfrm>
              <a:off x="2951039" y="5164436"/>
              <a:ext cx="241672" cy="9493"/>
            </a:xfrm>
            <a:custGeom>
              <a:avLst/>
              <a:gdLst>
                <a:gd name="connsiteX0" fmla="*/ 0 w 241672"/>
                <a:gd name="connsiteY0" fmla="*/ 0 h 9493"/>
                <a:gd name="connsiteX1" fmla="*/ 241673 w 241672"/>
                <a:gd name="connsiteY1" fmla="*/ 0 h 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672" h="9493">
                  <a:moveTo>
                    <a:pt x="0" y="0"/>
                  </a:moveTo>
                  <a:cubicBezTo>
                    <a:pt x="85877" y="0"/>
                    <a:pt x="166431" y="0"/>
                    <a:pt x="24167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2" name="フリーフォーム: 図形 711">
              <a:extLst>
                <a:ext uri="{FF2B5EF4-FFF2-40B4-BE49-F238E27FC236}">
                  <a16:creationId xmlns:a16="http://schemas.microsoft.com/office/drawing/2014/main" id="{BF2909A8-881A-864E-A513-DCFA8B2257C0}"/>
                </a:ext>
              </a:extLst>
            </p:cNvPr>
            <p:cNvSpPr/>
            <p:nvPr/>
          </p:nvSpPr>
          <p:spPr>
            <a:xfrm>
              <a:off x="3154692" y="5145448"/>
              <a:ext cx="38019" cy="37975"/>
            </a:xfrm>
            <a:custGeom>
              <a:avLst/>
              <a:gdLst>
                <a:gd name="connsiteX0" fmla="*/ 0 w 38019"/>
                <a:gd name="connsiteY0" fmla="*/ 0 h 37975"/>
                <a:gd name="connsiteX1" fmla="*/ 38020 w 38019"/>
                <a:gd name="connsiteY1" fmla="*/ 18988 h 37975"/>
                <a:gd name="connsiteX2" fmla="*/ 0 w 38019"/>
                <a:gd name="connsiteY2" fmla="*/ 37975 h 3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19" h="37975">
                  <a:moveTo>
                    <a:pt x="0" y="0"/>
                  </a:moveTo>
                  <a:lnTo>
                    <a:pt x="38020" y="18988"/>
                  </a:lnTo>
                  <a:lnTo>
                    <a:pt x="0" y="3797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13" name="グラフィックス 267">
            <a:extLst>
              <a:ext uri="{FF2B5EF4-FFF2-40B4-BE49-F238E27FC236}">
                <a16:creationId xmlns:a16="http://schemas.microsoft.com/office/drawing/2014/main" id="{A24B3508-6D54-4F0B-A905-F8C35EA52C35}"/>
              </a:ext>
            </a:extLst>
          </p:cNvPr>
          <p:cNvGrpSpPr/>
          <p:nvPr/>
        </p:nvGrpSpPr>
        <p:grpSpPr>
          <a:xfrm>
            <a:off x="10283651" y="3625024"/>
            <a:ext cx="264505" cy="45719"/>
            <a:chOff x="4429249" y="5145448"/>
            <a:chExt cx="241672" cy="37975"/>
          </a:xfrm>
          <a:noFill/>
        </p:grpSpPr>
        <p:sp>
          <p:nvSpPr>
            <p:cNvPr id="714" name="フリーフォーム: 図形 713">
              <a:extLst>
                <a:ext uri="{FF2B5EF4-FFF2-40B4-BE49-F238E27FC236}">
                  <a16:creationId xmlns:a16="http://schemas.microsoft.com/office/drawing/2014/main" id="{40CB5D70-5069-B0A7-7493-E67E19D82436}"/>
                </a:ext>
              </a:extLst>
            </p:cNvPr>
            <p:cNvSpPr/>
            <p:nvPr/>
          </p:nvSpPr>
          <p:spPr>
            <a:xfrm>
              <a:off x="4429249" y="5164436"/>
              <a:ext cx="241672" cy="9493"/>
            </a:xfrm>
            <a:custGeom>
              <a:avLst/>
              <a:gdLst>
                <a:gd name="connsiteX0" fmla="*/ 0 w 241672"/>
                <a:gd name="connsiteY0" fmla="*/ 0 h 9493"/>
                <a:gd name="connsiteX1" fmla="*/ 241673 w 241672"/>
                <a:gd name="connsiteY1" fmla="*/ 0 h 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672" h="9493">
                  <a:moveTo>
                    <a:pt x="0" y="0"/>
                  </a:moveTo>
                  <a:cubicBezTo>
                    <a:pt x="85877" y="0"/>
                    <a:pt x="166432" y="0"/>
                    <a:pt x="24167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5" name="フリーフォーム: 図形 714">
              <a:extLst>
                <a:ext uri="{FF2B5EF4-FFF2-40B4-BE49-F238E27FC236}">
                  <a16:creationId xmlns:a16="http://schemas.microsoft.com/office/drawing/2014/main" id="{04456A9F-4CEE-1710-E7EB-71C18B06D8B7}"/>
                </a:ext>
              </a:extLst>
            </p:cNvPr>
            <p:cNvSpPr/>
            <p:nvPr/>
          </p:nvSpPr>
          <p:spPr>
            <a:xfrm>
              <a:off x="4632902" y="5145448"/>
              <a:ext cx="38019" cy="37975"/>
            </a:xfrm>
            <a:custGeom>
              <a:avLst/>
              <a:gdLst>
                <a:gd name="connsiteX0" fmla="*/ 0 w 38019"/>
                <a:gd name="connsiteY0" fmla="*/ 0 h 37975"/>
                <a:gd name="connsiteX1" fmla="*/ 38020 w 38019"/>
                <a:gd name="connsiteY1" fmla="*/ 18988 h 37975"/>
                <a:gd name="connsiteX2" fmla="*/ 0 w 38019"/>
                <a:gd name="connsiteY2" fmla="*/ 37975 h 3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19" h="37975">
                  <a:moveTo>
                    <a:pt x="0" y="0"/>
                  </a:moveTo>
                  <a:lnTo>
                    <a:pt x="38020" y="18988"/>
                  </a:lnTo>
                  <a:lnTo>
                    <a:pt x="0" y="3797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9" name="テキスト ボックス 528">
            <a:extLst>
              <a:ext uri="{FF2B5EF4-FFF2-40B4-BE49-F238E27FC236}">
                <a16:creationId xmlns:a16="http://schemas.microsoft.com/office/drawing/2014/main" id="{1D4609B2-174C-AB0F-9381-04FB37568829}"/>
              </a:ext>
            </a:extLst>
          </p:cNvPr>
          <p:cNvSpPr txBox="1"/>
          <p:nvPr/>
        </p:nvSpPr>
        <p:spPr>
          <a:xfrm>
            <a:off x="632224" y="1773452"/>
            <a:ext cx="124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 Concept </a:t>
            </a:r>
            <a:endParaRPr kumimoji="1" lang="ja-JP" altLang="en-US" sz="20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1" name="テキスト ボックス 530">
            <a:extLst>
              <a:ext uri="{FF2B5EF4-FFF2-40B4-BE49-F238E27FC236}">
                <a16:creationId xmlns:a16="http://schemas.microsoft.com/office/drawing/2014/main" id="{E3AFEA40-5971-43A1-1591-6B8445F6C1DA}"/>
              </a:ext>
            </a:extLst>
          </p:cNvPr>
          <p:cNvSpPr txBox="1"/>
          <p:nvPr/>
        </p:nvSpPr>
        <p:spPr>
          <a:xfrm>
            <a:off x="930844" y="2201259"/>
            <a:ext cx="4528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Age-conditional centiles &amp; individual deviation</a:t>
            </a:r>
            <a:r>
              <a:rPr kumimoji="1"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4" name="テキスト ボックス 533">
            <a:extLst>
              <a:ext uri="{FF2B5EF4-FFF2-40B4-BE49-F238E27FC236}">
                <a16:creationId xmlns:a16="http://schemas.microsoft.com/office/drawing/2014/main" id="{A6CACACD-5277-C288-563A-787F2EB623C4}"/>
              </a:ext>
            </a:extLst>
          </p:cNvPr>
          <p:cNvSpPr txBox="1"/>
          <p:nvPr/>
        </p:nvSpPr>
        <p:spPr>
          <a:xfrm>
            <a:off x="6266552" y="1773452"/>
            <a:ext cx="1513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 Workflow</a:t>
            </a:r>
            <a:endParaRPr kumimoji="1" lang="ja-JP" altLang="en-US" sz="16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69" name="テキスト ボックス 2068">
            <a:extLst>
              <a:ext uri="{FF2B5EF4-FFF2-40B4-BE49-F238E27FC236}">
                <a16:creationId xmlns:a16="http://schemas.microsoft.com/office/drawing/2014/main" id="{79CBC858-036B-8703-EBA3-756E7251189A}"/>
              </a:ext>
            </a:extLst>
          </p:cNvPr>
          <p:cNvSpPr txBox="1"/>
          <p:nvPr/>
        </p:nvSpPr>
        <p:spPr>
          <a:xfrm>
            <a:off x="6501758" y="3372567"/>
            <a:ext cx="982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Reference cohort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0" name="テキスト ボックス 2069">
            <a:extLst>
              <a:ext uri="{FF2B5EF4-FFF2-40B4-BE49-F238E27FC236}">
                <a16:creationId xmlns:a16="http://schemas.microsoft.com/office/drawing/2014/main" id="{87160B69-D3F6-2FFC-BFB8-80481491B8C6}"/>
              </a:ext>
            </a:extLst>
          </p:cNvPr>
          <p:cNvSpPr txBox="1"/>
          <p:nvPr/>
        </p:nvSpPr>
        <p:spPr>
          <a:xfrm>
            <a:off x="7875634" y="3372567"/>
            <a:ext cx="986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 fitting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1" name="テキスト ボックス 2070">
            <a:extLst>
              <a:ext uri="{FF2B5EF4-FFF2-40B4-BE49-F238E27FC236}">
                <a16:creationId xmlns:a16="http://schemas.microsoft.com/office/drawing/2014/main" id="{97CF5955-45B7-1647-6189-856FE886DCC7}"/>
              </a:ext>
            </a:extLst>
          </p:cNvPr>
          <p:cNvSpPr txBox="1"/>
          <p:nvPr/>
        </p:nvSpPr>
        <p:spPr>
          <a:xfrm>
            <a:off x="9251411" y="3372567"/>
            <a:ext cx="986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 validation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2" name="テキスト ボックス 2071">
            <a:extLst>
              <a:ext uri="{FF2B5EF4-FFF2-40B4-BE49-F238E27FC236}">
                <a16:creationId xmlns:a16="http://schemas.microsoft.com/office/drawing/2014/main" id="{B254D4CA-4732-E08E-BD8F-123E83530A53}"/>
              </a:ext>
            </a:extLst>
          </p:cNvPr>
          <p:cNvSpPr txBox="1"/>
          <p:nvPr/>
        </p:nvSpPr>
        <p:spPr>
          <a:xfrm>
            <a:off x="10559620" y="3372567"/>
            <a:ext cx="1072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Clinical</a:t>
            </a:r>
          </a:p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6C135DD-4680-F79A-A886-2D8CE9163B3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BADB8FB0-5069-1328-6614-3907345A68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背景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  <a:ea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の概念と方法</a:t>
            </a:r>
            <a:endParaRPr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B3C9F5C-896D-DF2A-2DE9-EF7255F87B9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E867EC-781B-A28B-FECD-D264BF50B0A5}"/>
              </a:ext>
            </a:extLst>
          </p:cNvPr>
          <p:cNvSpPr txBox="1"/>
          <p:nvPr/>
        </p:nvSpPr>
        <p:spPr>
          <a:xfrm>
            <a:off x="613311" y="5665859"/>
            <a:ext cx="4789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健常者集団の参照分布から</a:t>
            </a:r>
            <a:endParaRPr lang="en-US" altLang="ja-JP" sz="2000" dirty="0">
              <a:solidFill>
                <a:srgbClr val="374151"/>
              </a:solidFill>
            </a:endParaRPr>
          </a:p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個人の逸脱度（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</a:t>
            </a:r>
            <a:r>
              <a:rPr lang="ja-JP" altLang="en-US" sz="2000" dirty="0">
                <a:solidFill>
                  <a:srgbClr val="374151"/>
                </a:solidFill>
              </a:rPr>
              <a:t>値・百分位）を定量化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E7E228-11F4-38E6-DBA5-54D2A3A74F25}"/>
              </a:ext>
            </a:extLst>
          </p:cNvPr>
          <p:cNvSpPr txBox="1"/>
          <p:nvPr/>
        </p:nvSpPr>
        <p:spPr>
          <a:xfrm>
            <a:off x="6501999" y="5819747"/>
            <a:ext cx="54988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solidFill>
                  <a:srgbClr val="374151"/>
                </a:solidFill>
              </a:rPr>
              <a:t>モデル構築から臨床適用までのワークフロー</a:t>
            </a:r>
          </a:p>
        </p:txBody>
      </p:sp>
      <p:sp>
        <p:nvSpPr>
          <p:cNvPr id="52" name="フリーフォーム: 図形 51">
            <a:extLst>
              <a:ext uri="{FF2B5EF4-FFF2-40B4-BE49-F238E27FC236}">
                <a16:creationId xmlns:a16="http://schemas.microsoft.com/office/drawing/2014/main" id="{2E6B9F53-DB65-B625-9253-BC6296676C88}"/>
              </a:ext>
            </a:extLst>
          </p:cNvPr>
          <p:cNvSpPr/>
          <p:nvPr/>
        </p:nvSpPr>
        <p:spPr>
          <a:xfrm>
            <a:off x="930844" y="4988083"/>
            <a:ext cx="4528221" cy="45719"/>
          </a:xfrm>
          <a:custGeom>
            <a:avLst/>
            <a:gdLst>
              <a:gd name="connsiteX0" fmla="*/ 0 w 5715000"/>
              <a:gd name="connsiteY0" fmla="*/ 0 h 9525"/>
              <a:gd name="connsiteX1" fmla="*/ 5715000 w 5715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ln w="19050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/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6E10DB34-79D9-F5D9-D380-19B83A87277B}"/>
              </a:ext>
            </a:extLst>
          </p:cNvPr>
          <p:cNvSpPr/>
          <p:nvPr/>
        </p:nvSpPr>
        <p:spPr>
          <a:xfrm>
            <a:off x="930844" y="2539813"/>
            <a:ext cx="46389" cy="2448270"/>
          </a:xfrm>
          <a:custGeom>
            <a:avLst/>
            <a:gdLst>
              <a:gd name="connsiteX0" fmla="*/ 0 w 9525"/>
              <a:gd name="connsiteY0" fmla="*/ 0 h 3333750"/>
              <a:gd name="connsiteX1" fmla="*/ 0 w 9525"/>
              <a:gd name="connsiteY1" fmla="*/ 3333750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ln w="19050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DB7C4B5A-2BD6-FE78-BCCB-35B0D5A143BD}"/>
              </a:ext>
            </a:extLst>
          </p:cNvPr>
          <p:cNvSpPr/>
          <p:nvPr/>
        </p:nvSpPr>
        <p:spPr>
          <a:xfrm>
            <a:off x="938597" y="2989341"/>
            <a:ext cx="4528221" cy="1670305"/>
          </a:xfrm>
          <a:custGeom>
            <a:avLst/>
            <a:gdLst>
              <a:gd name="connsiteX0" fmla="*/ 0 w 5715000"/>
              <a:gd name="connsiteY0" fmla="*/ 1845469 h 1845468"/>
              <a:gd name="connsiteX1" fmla="*/ 2857500 w 5715000"/>
              <a:gd name="connsiteY1" fmla="*/ 1178719 h 1845468"/>
              <a:gd name="connsiteX2" fmla="*/ 5715000 w 5715000"/>
              <a:gd name="connsiteY2" fmla="*/ 702469 h 1845468"/>
              <a:gd name="connsiteX3" fmla="*/ 5715000 w 5715000"/>
              <a:gd name="connsiteY3" fmla="*/ 321469 h 1845468"/>
              <a:gd name="connsiteX4" fmla="*/ 2857500 w 5715000"/>
              <a:gd name="connsiteY4" fmla="*/ 35719 h 1845468"/>
              <a:gd name="connsiteX5" fmla="*/ 0 w 5715000"/>
              <a:gd name="connsiteY5" fmla="*/ 35719 h 184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5000" h="1845468">
                <a:moveTo>
                  <a:pt x="0" y="1845469"/>
                </a:moveTo>
                <a:cubicBezTo>
                  <a:pt x="952500" y="1654969"/>
                  <a:pt x="1905000" y="1416844"/>
                  <a:pt x="2857500" y="1178719"/>
                </a:cubicBezTo>
                <a:cubicBezTo>
                  <a:pt x="3810000" y="988219"/>
                  <a:pt x="4762500" y="845344"/>
                  <a:pt x="5715000" y="702469"/>
                </a:cubicBezTo>
                <a:lnTo>
                  <a:pt x="5715000" y="321469"/>
                </a:lnTo>
                <a:cubicBezTo>
                  <a:pt x="4762500" y="178594"/>
                  <a:pt x="3810000" y="83344"/>
                  <a:pt x="2857500" y="35719"/>
                </a:cubicBezTo>
                <a:cubicBezTo>
                  <a:pt x="1905000" y="-11906"/>
                  <a:pt x="952500" y="-11906"/>
                  <a:pt x="0" y="35719"/>
                </a:cubicBezTo>
                <a:close/>
              </a:path>
            </a:pathLst>
          </a:custGeom>
          <a:gradFill>
            <a:gsLst>
              <a:gs pos="0">
                <a:srgbClr val="C7D2FE">
                  <a:alpha val="40000"/>
                </a:srgbClr>
              </a:gs>
              <a:gs pos="50000">
                <a:srgbClr val="C7D2FE">
                  <a:alpha val="34902"/>
                </a:srgbClr>
              </a:gs>
              <a:gs pos="100000">
                <a:srgbClr val="C7D2FE">
                  <a:alpha val="29804"/>
                </a:srgb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5" name="フリーフォーム: 図形 54">
            <a:extLst>
              <a:ext uri="{FF2B5EF4-FFF2-40B4-BE49-F238E27FC236}">
                <a16:creationId xmlns:a16="http://schemas.microsoft.com/office/drawing/2014/main" id="{12241397-F96D-6DF3-CA21-B4F60AD43AC3}"/>
              </a:ext>
            </a:extLst>
          </p:cNvPr>
          <p:cNvSpPr/>
          <p:nvPr/>
        </p:nvSpPr>
        <p:spPr>
          <a:xfrm>
            <a:off x="938597" y="3161581"/>
            <a:ext cx="4528221" cy="1237750"/>
          </a:xfrm>
          <a:custGeom>
            <a:avLst/>
            <a:gdLst>
              <a:gd name="connsiteX0" fmla="*/ 0 w 5715000"/>
              <a:gd name="connsiteY0" fmla="*/ 1304925 h 1304925"/>
              <a:gd name="connsiteX1" fmla="*/ 2857500 w 5715000"/>
              <a:gd name="connsiteY1" fmla="*/ 781050 h 1304925"/>
              <a:gd name="connsiteX2" fmla="*/ 5715000 w 5715000"/>
              <a:gd name="connsiteY2" fmla="*/ 447675 h 1304925"/>
              <a:gd name="connsiteX3" fmla="*/ 5715000 w 5715000"/>
              <a:gd name="connsiteY3" fmla="*/ 161925 h 1304925"/>
              <a:gd name="connsiteX4" fmla="*/ 2857500 w 5715000"/>
              <a:gd name="connsiteY4" fmla="*/ 0 h 1304925"/>
              <a:gd name="connsiteX5" fmla="*/ 0 w 5715000"/>
              <a:gd name="connsiteY5" fmla="*/ 66675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5000" h="1304925">
                <a:moveTo>
                  <a:pt x="0" y="1304925"/>
                </a:moveTo>
                <a:cubicBezTo>
                  <a:pt x="952500" y="1162050"/>
                  <a:pt x="1905000" y="971550"/>
                  <a:pt x="2857500" y="781050"/>
                </a:cubicBezTo>
                <a:cubicBezTo>
                  <a:pt x="3810000" y="638175"/>
                  <a:pt x="4762500" y="542925"/>
                  <a:pt x="5715000" y="447675"/>
                </a:cubicBezTo>
                <a:lnTo>
                  <a:pt x="5715000" y="161925"/>
                </a:lnTo>
                <a:cubicBezTo>
                  <a:pt x="4762500" y="66675"/>
                  <a:pt x="3810000" y="19050"/>
                  <a:pt x="2857500" y="0"/>
                </a:cubicBezTo>
                <a:cubicBezTo>
                  <a:pt x="1905000" y="0"/>
                  <a:pt x="952500" y="19050"/>
                  <a:pt x="0" y="66675"/>
                </a:cubicBezTo>
                <a:close/>
              </a:path>
            </a:pathLst>
          </a:custGeom>
          <a:gradFill>
            <a:gsLst>
              <a:gs pos="0">
                <a:srgbClr val="A5B4FC">
                  <a:alpha val="49804"/>
                </a:srgbClr>
              </a:gs>
              <a:gs pos="50000">
                <a:srgbClr val="A5B4FC">
                  <a:alpha val="44706"/>
                </a:srgbClr>
              </a:gs>
              <a:gs pos="100000">
                <a:srgbClr val="A5B4FC">
                  <a:alpha val="40000"/>
                </a:srgb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31575D23-7F7E-BD57-ACEB-622B0DF2AABD}"/>
              </a:ext>
            </a:extLst>
          </p:cNvPr>
          <p:cNvSpPr/>
          <p:nvPr/>
        </p:nvSpPr>
        <p:spPr>
          <a:xfrm>
            <a:off x="938596" y="3442340"/>
            <a:ext cx="4528220" cy="353773"/>
          </a:xfrm>
          <a:custGeom>
            <a:avLst/>
            <a:gdLst>
              <a:gd name="connsiteX0" fmla="*/ 0 w 5715000"/>
              <a:gd name="connsiteY0" fmla="*/ 619125 h 619125"/>
              <a:gd name="connsiteX1" fmla="*/ 2857500 w 5715000"/>
              <a:gd name="connsiteY1" fmla="*/ 190500 h 619125"/>
              <a:gd name="connsiteX2" fmla="*/ 5715000 w 5715000"/>
              <a:gd name="connsiteY2" fmla="*/ 0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00" h="619125">
                <a:moveTo>
                  <a:pt x="0" y="619125"/>
                </a:moveTo>
                <a:cubicBezTo>
                  <a:pt x="952500" y="504825"/>
                  <a:pt x="1905000" y="333375"/>
                  <a:pt x="2857500" y="190500"/>
                </a:cubicBezTo>
                <a:cubicBezTo>
                  <a:pt x="3810000" y="95250"/>
                  <a:pt x="4762500" y="28575"/>
                  <a:pt x="5715000" y="0"/>
                </a:cubicBezTo>
              </a:path>
            </a:pathLst>
          </a:custGeom>
          <a:noFill/>
          <a:ln w="28575" cap="flat">
            <a:solidFill>
              <a:srgbClr val="3F51B5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97" name="フリーフォーム: 図形 896">
            <a:extLst>
              <a:ext uri="{FF2B5EF4-FFF2-40B4-BE49-F238E27FC236}">
                <a16:creationId xmlns:a16="http://schemas.microsoft.com/office/drawing/2014/main" id="{A5DD525E-6868-878E-483A-ADB3D3C90389}"/>
              </a:ext>
            </a:extLst>
          </p:cNvPr>
          <p:cNvSpPr/>
          <p:nvPr/>
        </p:nvSpPr>
        <p:spPr>
          <a:xfrm>
            <a:off x="3676523" y="4312713"/>
            <a:ext cx="1782542" cy="603380"/>
          </a:xfrm>
          <a:custGeom>
            <a:avLst/>
            <a:gdLst>
              <a:gd name="connsiteX0" fmla="*/ 2047875 w 2095500"/>
              <a:gd name="connsiteY0" fmla="*/ 0 h 857250"/>
              <a:gd name="connsiteX1" fmla="*/ 2095500 w 2095500"/>
              <a:gd name="connsiteY1" fmla="*/ 0 h 857250"/>
              <a:gd name="connsiteX2" fmla="*/ 2095500 w 2095500"/>
              <a:gd name="connsiteY2" fmla="*/ 857250 h 857250"/>
              <a:gd name="connsiteX3" fmla="*/ 2047875 w 2095500"/>
              <a:gd name="connsiteY3" fmla="*/ 857250 h 857250"/>
              <a:gd name="connsiteX4" fmla="*/ 47625 w 2095500"/>
              <a:gd name="connsiteY4" fmla="*/ 857250 h 857250"/>
              <a:gd name="connsiteX5" fmla="*/ 0 w 2095500"/>
              <a:gd name="connsiteY5" fmla="*/ 857250 h 857250"/>
              <a:gd name="connsiteX6" fmla="*/ 0 w 2095500"/>
              <a:gd name="connsiteY6" fmla="*/ 0 h 857250"/>
              <a:gd name="connsiteX7" fmla="*/ 47625 w 2095500"/>
              <a:gd name="connsiteY7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857250">
                <a:moveTo>
                  <a:pt x="2047875" y="0"/>
                </a:moveTo>
                <a:cubicBezTo>
                  <a:pt x="2074178" y="0"/>
                  <a:pt x="2095500" y="0"/>
                  <a:pt x="2095500" y="0"/>
                </a:cubicBezTo>
                <a:lnTo>
                  <a:pt x="2095500" y="857250"/>
                </a:lnTo>
                <a:cubicBezTo>
                  <a:pt x="2095500" y="857250"/>
                  <a:pt x="2074178" y="857250"/>
                  <a:pt x="2047875" y="857250"/>
                </a:cubicBezTo>
                <a:lnTo>
                  <a:pt x="47625" y="857250"/>
                </a:lnTo>
                <a:cubicBezTo>
                  <a:pt x="21323" y="857250"/>
                  <a:pt x="0" y="857250"/>
                  <a:pt x="0" y="857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 cap="flat">
            <a:solidFill>
              <a:srgbClr val="E5E7E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9" name="フリーフォーム: 図形 898">
            <a:extLst>
              <a:ext uri="{FF2B5EF4-FFF2-40B4-BE49-F238E27FC236}">
                <a16:creationId xmlns:a16="http://schemas.microsoft.com/office/drawing/2014/main" id="{F95927EF-0AC9-D7DC-6E3D-2ED43BAFA26D}"/>
              </a:ext>
            </a:extLst>
          </p:cNvPr>
          <p:cNvSpPr/>
          <p:nvPr/>
        </p:nvSpPr>
        <p:spPr>
          <a:xfrm>
            <a:off x="3771773" y="4363664"/>
            <a:ext cx="190500" cy="114300"/>
          </a:xfrm>
          <a:custGeom>
            <a:avLst/>
            <a:gdLst>
              <a:gd name="connsiteX0" fmla="*/ 0 w 190500"/>
              <a:gd name="connsiteY0" fmla="*/ 0 h 114300"/>
              <a:gd name="connsiteX1" fmla="*/ 190500 w 190500"/>
              <a:gd name="connsiteY1" fmla="*/ 0 h 114300"/>
              <a:gd name="connsiteX2" fmla="*/ 190500 w 190500"/>
              <a:gd name="connsiteY2" fmla="*/ 114300 h 114300"/>
              <a:gd name="connsiteX3" fmla="*/ 0 w 190500"/>
              <a:gd name="connsiteY3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" h="114300">
                <a:moveTo>
                  <a:pt x="0" y="0"/>
                </a:moveTo>
                <a:lnTo>
                  <a:pt x="190500" y="0"/>
                </a:lnTo>
                <a:lnTo>
                  <a:pt x="190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C7D2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1" name="フリーフォーム: 図形 900">
            <a:extLst>
              <a:ext uri="{FF2B5EF4-FFF2-40B4-BE49-F238E27FC236}">
                <a16:creationId xmlns:a16="http://schemas.microsoft.com/office/drawing/2014/main" id="{B9076344-2C9E-E5E3-75EC-480DAFA5DB3C}"/>
              </a:ext>
            </a:extLst>
          </p:cNvPr>
          <p:cNvSpPr/>
          <p:nvPr/>
        </p:nvSpPr>
        <p:spPr>
          <a:xfrm>
            <a:off x="3771773" y="4558863"/>
            <a:ext cx="190500" cy="114300"/>
          </a:xfrm>
          <a:custGeom>
            <a:avLst/>
            <a:gdLst>
              <a:gd name="connsiteX0" fmla="*/ 0 w 190500"/>
              <a:gd name="connsiteY0" fmla="*/ 0 h 114300"/>
              <a:gd name="connsiteX1" fmla="*/ 190500 w 190500"/>
              <a:gd name="connsiteY1" fmla="*/ 0 h 114300"/>
              <a:gd name="connsiteX2" fmla="*/ 190500 w 190500"/>
              <a:gd name="connsiteY2" fmla="*/ 114300 h 114300"/>
              <a:gd name="connsiteX3" fmla="*/ 0 w 190500"/>
              <a:gd name="connsiteY3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" h="114300">
                <a:moveTo>
                  <a:pt x="0" y="0"/>
                </a:moveTo>
                <a:lnTo>
                  <a:pt x="190500" y="0"/>
                </a:lnTo>
                <a:lnTo>
                  <a:pt x="190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A5B4F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3" name="フリーフォーム: 図形 902">
            <a:extLst>
              <a:ext uri="{FF2B5EF4-FFF2-40B4-BE49-F238E27FC236}">
                <a16:creationId xmlns:a16="http://schemas.microsoft.com/office/drawing/2014/main" id="{F0259C91-DD0E-5C4B-9A8C-A5D3DB9EDF0E}"/>
              </a:ext>
            </a:extLst>
          </p:cNvPr>
          <p:cNvSpPr/>
          <p:nvPr/>
        </p:nvSpPr>
        <p:spPr>
          <a:xfrm>
            <a:off x="3771773" y="4796711"/>
            <a:ext cx="190500" cy="9525"/>
          </a:xfrm>
          <a:custGeom>
            <a:avLst/>
            <a:gdLst>
              <a:gd name="connsiteX0" fmla="*/ 0 w 190500"/>
              <a:gd name="connsiteY0" fmla="*/ 0 h 9525"/>
              <a:gd name="connsiteX1" fmla="*/ 190500 w 1905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28575" cap="flat">
            <a:solidFill>
              <a:srgbClr val="3F51B5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7" name="フリーフォーム: 図形 906">
            <a:extLst>
              <a:ext uri="{FF2B5EF4-FFF2-40B4-BE49-F238E27FC236}">
                <a16:creationId xmlns:a16="http://schemas.microsoft.com/office/drawing/2014/main" id="{01E9B2D6-728C-4618-33B7-4A6529986ABB}"/>
              </a:ext>
            </a:extLst>
          </p:cNvPr>
          <p:cNvSpPr/>
          <p:nvPr/>
        </p:nvSpPr>
        <p:spPr>
          <a:xfrm>
            <a:off x="3579443" y="2869993"/>
            <a:ext cx="152400" cy="152400"/>
          </a:xfrm>
          <a:custGeom>
            <a:avLst/>
            <a:gdLst>
              <a:gd name="connsiteX0" fmla="*/ 152400 w 152400"/>
              <a:gd name="connsiteY0" fmla="*/ 76200 h 152400"/>
              <a:gd name="connsiteX1" fmla="*/ 76200 w 152400"/>
              <a:gd name="connsiteY1" fmla="*/ 152400 h 152400"/>
              <a:gd name="connsiteX2" fmla="*/ 0 w 152400"/>
              <a:gd name="connsiteY2" fmla="*/ 76200 h 152400"/>
              <a:gd name="connsiteX3" fmla="*/ 76200 w 152400"/>
              <a:gd name="connsiteY3" fmla="*/ 0 h 152400"/>
              <a:gd name="connsiteX4" fmla="*/ 152400 w 152400"/>
              <a:gd name="connsiteY4" fmla="*/ 762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118284"/>
                  <a:pt x="118284" y="152400"/>
                  <a:pt x="76200" y="152400"/>
                </a:cubicBezTo>
                <a:cubicBezTo>
                  <a:pt x="34116" y="152400"/>
                  <a:pt x="0" y="118284"/>
                  <a:pt x="0" y="76200"/>
                </a:cubicBezTo>
                <a:cubicBezTo>
                  <a:pt x="0" y="34116"/>
                  <a:pt x="34116" y="0"/>
                  <a:pt x="76200" y="0"/>
                </a:cubicBezTo>
                <a:cubicBezTo>
                  <a:pt x="118284" y="0"/>
                  <a:pt x="152400" y="34116"/>
                  <a:pt x="152400" y="76200"/>
                </a:cubicBez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8" name="フリーフォーム: 図形 907">
            <a:extLst>
              <a:ext uri="{FF2B5EF4-FFF2-40B4-BE49-F238E27FC236}">
                <a16:creationId xmlns:a16="http://schemas.microsoft.com/office/drawing/2014/main" id="{3F21937B-D358-9CE5-25A6-38515799DF49}"/>
              </a:ext>
            </a:extLst>
          </p:cNvPr>
          <p:cNvSpPr/>
          <p:nvPr/>
        </p:nvSpPr>
        <p:spPr>
          <a:xfrm rot="1218464" flipV="1">
            <a:off x="3807497" y="2807365"/>
            <a:ext cx="361946" cy="190500"/>
          </a:xfrm>
          <a:custGeom>
            <a:avLst/>
            <a:gdLst>
              <a:gd name="connsiteX0" fmla="*/ 0 w 304800"/>
              <a:gd name="connsiteY0" fmla="*/ 0 h 238125"/>
              <a:gd name="connsiteX1" fmla="*/ 304800 w 304800"/>
              <a:gd name="connsiteY1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800" h="238125">
                <a:moveTo>
                  <a:pt x="0" y="0"/>
                </a:moveTo>
                <a:lnTo>
                  <a:pt x="304800" y="238125"/>
                </a:lnTo>
              </a:path>
            </a:pathLst>
          </a:custGeom>
          <a:ln w="14288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33" name="テキスト ボックス 932">
            <a:extLst>
              <a:ext uri="{FF2B5EF4-FFF2-40B4-BE49-F238E27FC236}">
                <a16:creationId xmlns:a16="http://schemas.microsoft.com/office/drawing/2014/main" id="{18628E91-6E0C-2E9B-254D-A1F57B709E14}"/>
              </a:ext>
            </a:extLst>
          </p:cNvPr>
          <p:cNvSpPr txBox="1"/>
          <p:nvPr/>
        </p:nvSpPr>
        <p:spPr>
          <a:xfrm>
            <a:off x="930844" y="5138095"/>
            <a:ext cx="4535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Clinically relevant covariate x (e.g., Age)</a:t>
            </a:r>
          </a:p>
        </p:txBody>
      </p:sp>
      <p:sp>
        <p:nvSpPr>
          <p:cNvPr id="934" name="テキスト ボックス 933">
            <a:extLst>
              <a:ext uri="{FF2B5EF4-FFF2-40B4-BE49-F238E27FC236}">
                <a16:creationId xmlns:a16="http://schemas.microsoft.com/office/drawing/2014/main" id="{9A2B5882-AA8E-60D3-7B25-3EA54B199234}"/>
              </a:ext>
            </a:extLst>
          </p:cNvPr>
          <p:cNvSpPr txBox="1"/>
          <p:nvPr/>
        </p:nvSpPr>
        <p:spPr>
          <a:xfrm>
            <a:off x="930844" y="4960627"/>
            <a:ext cx="4515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80</a:t>
            </a:r>
          </a:p>
        </p:txBody>
      </p:sp>
      <p:sp>
        <p:nvSpPr>
          <p:cNvPr id="935" name="テキスト ボックス 934">
            <a:extLst>
              <a:ext uri="{FF2B5EF4-FFF2-40B4-BE49-F238E27FC236}">
                <a16:creationId xmlns:a16="http://schemas.microsoft.com/office/drawing/2014/main" id="{44E33076-6AA6-FEB2-3866-204A43FA98DD}"/>
              </a:ext>
            </a:extLst>
          </p:cNvPr>
          <p:cNvSpPr txBox="1"/>
          <p:nvPr/>
        </p:nvSpPr>
        <p:spPr>
          <a:xfrm rot="16200000">
            <a:off x="-555586" y="3625447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Neuroimaging measure y</a:t>
            </a:r>
          </a:p>
        </p:txBody>
      </p:sp>
      <p:sp>
        <p:nvSpPr>
          <p:cNvPr id="936" name="テキスト ボックス 935">
            <a:extLst>
              <a:ext uri="{FF2B5EF4-FFF2-40B4-BE49-F238E27FC236}">
                <a16:creationId xmlns:a16="http://schemas.microsoft.com/office/drawing/2014/main" id="{9760865C-7FB5-7BA7-1178-16C294CC9788}"/>
              </a:ext>
            </a:extLst>
          </p:cNvPr>
          <p:cNvSpPr txBox="1"/>
          <p:nvPr/>
        </p:nvSpPr>
        <p:spPr>
          <a:xfrm>
            <a:off x="3924701" y="4311169"/>
            <a:ext cx="1437328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Reference centiles (5</a:t>
            </a:r>
            <a:r>
              <a:rPr lang="ja-JP" altLang="en-US" sz="8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–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95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37" name="テキスト ボックス 936">
            <a:extLst>
              <a:ext uri="{FF2B5EF4-FFF2-40B4-BE49-F238E27FC236}">
                <a16:creationId xmlns:a16="http://schemas.microsoft.com/office/drawing/2014/main" id="{BC5C2BF5-FFCC-573F-18DC-A853BF9BC8BC}"/>
              </a:ext>
            </a:extLst>
          </p:cNvPr>
          <p:cNvSpPr txBox="1"/>
          <p:nvPr/>
        </p:nvSpPr>
        <p:spPr>
          <a:xfrm>
            <a:off x="3924701" y="4508291"/>
            <a:ext cx="14373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Reference centiles (25</a:t>
            </a:r>
            <a:r>
              <a:rPr lang="ja-JP" altLang="en-US" sz="8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–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75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38" name="テキスト ボックス 937">
            <a:extLst>
              <a:ext uri="{FF2B5EF4-FFF2-40B4-BE49-F238E27FC236}">
                <a16:creationId xmlns:a16="http://schemas.microsoft.com/office/drawing/2014/main" id="{C3784CA2-36B6-8C06-1AA7-191AFCFD3B92}"/>
              </a:ext>
            </a:extLst>
          </p:cNvPr>
          <p:cNvSpPr txBox="1"/>
          <p:nvPr/>
        </p:nvSpPr>
        <p:spPr>
          <a:xfrm>
            <a:off x="3924701" y="4693751"/>
            <a:ext cx="14373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Median (50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percentile)</a:t>
            </a:r>
          </a:p>
        </p:txBody>
      </p:sp>
      <p:sp>
        <p:nvSpPr>
          <p:cNvPr id="939" name="テキスト ボックス 938">
            <a:extLst>
              <a:ext uri="{FF2B5EF4-FFF2-40B4-BE49-F238E27FC236}">
                <a16:creationId xmlns:a16="http://schemas.microsoft.com/office/drawing/2014/main" id="{E7A2A073-4CF6-248F-B3B4-88A4E2F4F046}"/>
              </a:ext>
            </a:extLst>
          </p:cNvPr>
          <p:cNvSpPr txBox="1"/>
          <p:nvPr/>
        </p:nvSpPr>
        <p:spPr>
          <a:xfrm>
            <a:off x="4156736" y="2732691"/>
            <a:ext cx="143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Individual deviation:</a:t>
            </a:r>
          </a:p>
          <a:p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 </a:t>
            </a:r>
            <a:r>
              <a:rPr lang="ja-JP" altLang="en-US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≈</a:t>
            </a:r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+2.1 (</a:t>
            </a:r>
            <a:r>
              <a:rPr lang="ja-JP" altLang="en-US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≈ </a:t>
            </a:r>
            <a:r>
              <a:rPr lang="en-US" altLang="ja-JP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98</a:t>
            </a:r>
            <a:r>
              <a:rPr lang="en-US" altLang="ja-JP" sz="900" baseline="300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th</a:t>
            </a:r>
            <a:r>
              <a:rPr lang="en-US" altLang="ja-JP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 centile)</a:t>
            </a:r>
            <a:endParaRPr lang="en-US" altLang="ja-JP" sz="9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0" name="テキスト ボックス 939">
            <a:extLst>
              <a:ext uri="{FF2B5EF4-FFF2-40B4-BE49-F238E27FC236}">
                <a16:creationId xmlns:a16="http://schemas.microsoft.com/office/drawing/2014/main" id="{D94DE8EE-07FF-27F2-394E-1F67E6159225}"/>
              </a:ext>
            </a:extLst>
          </p:cNvPr>
          <p:cNvSpPr txBox="1"/>
          <p:nvPr/>
        </p:nvSpPr>
        <p:spPr>
          <a:xfrm>
            <a:off x="6499857" y="2201259"/>
            <a:ext cx="5076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  <a:r>
              <a:rPr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development</a:t>
            </a:r>
            <a:r>
              <a:rPr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Validation</a:t>
            </a:r>
            <a:r>
              <a:rPr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6B4E4E8A-4ECB-DCF0-C654-17A90CA4FCED}"/>
              </a:ext>
            </a:extLst>
          </p:cNvPr>
          <p:cNvSpPr/>
          <p:nvPr/>
        </p:nvSpPr>
        <p:spPr>
          <a:xfrm>
            <a:off x="7875634" y="3187129"/>
            <a:ext cx="986324" cy="894096"/>
          </a:xfrm>
          <a:custGeom>
            <a:avLst/>
            <a:gdLst>
              <a:gd name="connsiteX0" fmla="*/ 0 w 1182563"/>
              <a:gd name="connsiteY0" fmla="*/ 787455 h 787454"/>
              <a:gd name="connsiteX1" fmla="*/ 1182564 w 1182563"/>
              <a:gd name="connsiteY1" fmla="*/ 787455 h 787454"/>
              <a:gd name="connsiteX2" fmla="*/ 1182564 w 1182563"/>
              <a:gd name="connsiteY2" fmla="*/ 0 h 787454"/>
              <a:gd name="connsiteX3" fmla="*/ 0 w 1182563"/>
              <a:gd name="connsiteY3" fmla="*/ 0 h 787454"/>
              <a:gd name="connsiteX4" fmla="*/ 0 w 1182563"/>
              <a:gd name="connsiteY4" fmla="*/ 787455 h 787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563" h="787454">
                <a:moveTo>
                  <a:pt x="0" y="787455"/>
                </a:moveTo>
                <a:lnTo>
                  <a:pt x="1182564" y="787455"/>
                </a:lnTo>
                <a:lnTo>
                  <a:pt x="1182564" y="0"/>
                </a:lnTo>
                <a:lnTo>
                  <a:pt x="0" y="0"/>
                </a:lnTo>
                <a:lnTo>
                  <a:pt x="0" y="787455"/>
                </a:lnTo>
                <a:close/>
              </a:path>
            </a:pathLst>
          </a:custGeom>
          <a:noFill/>
          <a:ln w="1424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140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3AAD4491-C50E-0ECE-2B78-1BEEE52E4231}"/>
              </a:ext>
            </a:extLst>
          </p:cNvPr>
          <p:cNvSpPr/>
          <p:nvPr/>
        </p:nvSpPr>
        <p:spPr>
          <a:xfrm>
            <a:off x="9251411" y="3187129"/>
            <a:ext cx="986324" cy="894096"/>
          </a:xfrm>
          <a:custGeom>
            <a:avLst/>
            <a:gdLst>
              <a:gd name="connsiteX0" fmla="*/ 0 w 1182563"/>
              <a:gd name="connsiteY0" fmla="*/ 787455 h 787454"/>
              <a:gd name="connsiteX1" fmla="*/ 1182564 w 1182563"/>
              <a:gd name="connsiteY1" fmla="*/ 787455 h 787454"/>
              <a:gd name="connsiteX2" fmla="*/ 1182564 w 1182563"/>
              <a:gd name="connsiteY2" fmla="*/ 0 h 787454"/>
              <a:gd name="connsiteX3" fmla="*/ 0 w 1182563"/>
              <a:gd name="connsiteY3" fmla="*/ 0 h 787454"/>
              <a:gd name="connsiteX4" fmla="*/ 0 w 1182563"/>
              <a:gd name="connsiteY4" fmla="*/ 787455 h 787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563" h="787454">
                <a:moveTo>
                  <a:pt x="0" y="787455"/>
                </a:moveTo>
                <a:lnTo>
                  <a:pt x="1182564" y="787455"/>
                </a:lnTo>
                <a:lnTo>
                  <a:pt x="1182564" y="0"/>
                </a:lnTo>
                <a:lnTo>
                  <a:pt x="0" y="0"/>
                </a:lnTo>
                <a:lnTo>
                  <a:pt x="0" y="787455"/>
                </a:lnTo>
                <a:close/>
              </a:path>
            </a:pathLst>
          </a:custGeom>
          <a:noFill/>
          <a:ln w="1424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140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6E317D50-4489-974C-43DC-71889BEE4CEB}"/>
              </a:ext>
            </a:extLst>
          </p:cNvPr>
          <p:cNvSpPr/>
          <p:nvPr/>
        </p:nvSpPr>
        <p:spPr>
          <a:xfrm>
            <a:off x="10589765" y="3187129"/>
            <a:ext cx="986324" cy="894096"/>
          </a:xfrm>
          <a:custGeom>
            <a:avLst/>
            <a:gdLst>
              <a:gd name="connsiteX0" fmla="*/ 0 w 1182563"/>
              <a:gd name="connsiteY0" fmla="*/ 787455 h 787454"/>
              <a:gd name="connsiteX1" fmla="*/ 1182564 w 1182563"/>
              <a:gd name="connsiteY1" fmla="*/ 787455 h 787454"/>
              <a:gd name="connsiteX2" fmla="*/ 1182564 w 1182563"/>
              <a:gd name="connsiteY2" fmla="*/ 0 h 787454"/>
              <a:gd name="connsiteX3" fmla="*/ 0 w 1182563"/>
              <a:gd name="connsiteY3" fmla="*/ 0 h 787454"/>
              <a:gd name="connsiteX4" fmla="*/ 0 w 1182563"/>
              <a:gd name="connsiteY4" fmla="*/ 787455 h 787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563" h="787454">
                <a:moveTo>
                  <a:pt x="0" y="787455"/>
                </a:moveTo>
                <a:lnTo>
                  <a:pt x="1182564" y="787455"/>
                </a:lnTo>
                <a:lnTo>
                  <a:pt x="1182564" y="0"/>
                </a:lnTo>
                <a:lnTo>
                  <a:pt x="0" y="0"/>
                </a:lnTo>
                <a:lnTo>
                  <a:pt x="0" y="787455"/>
                </a:lnTo>
                <a:close/>
              </a:path>
            </a:pathLst>
          </a:custGeom>
          <a:noFill/>
          <a:ln w="1424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140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68ADB7-2773-091F-AD13-A68AF40C1EF2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44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DF0B-EDD3-CEA5-04C8-4D30B8FD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E1F9D70-CDE6-F639-CD1D-9E6CBACC8CA4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96B1EBE-11A7-43FF-316E-6A557ED6D6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目的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98074AD-7FF7-3D4C-B003-DAC5F1888A43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D60C06-E063-573E-7627-EE2B38A39A6E}"/>
              </a:ext>
            </a:extLst>
          </p:cNvPr>
          <p:cNvSpPr txBox="1">
            <a:spLocks/>
          </p:cNvSpPr>
          <p:nvPr/>
        </p:nvSpPr>
        <p:spPr>
          <a:xfrm>
            <a:off x="838200" y="1941186"/>
            <a:ext cx="10744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精神神経領域における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研究の方法論的多様性を系統的に検討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脳画像解析手法、統計モデル、検証方法、臨床応用の現状を整理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当該領域の標準化指針</a:t>
            </a:r>
            <a:r>
              <a:rPr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（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r>
              <a:rPr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）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を提案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2F7F65-AC8C-E7B4-35E3-4B16F99B991A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8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E347A-8F2B-F647-4A53-ED4CF63F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B4E2AC2-C97E-F8CD-17B2-F1173D034BB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268198E5-7B02-3576-B268-02442C31BE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方法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5FBF929-6FE2-A02D-C25A-1A6EFA4977D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6492182-881F-B1FE-4351-5E8227EAE487}"/>
              </a:ext>
            </a:extLst>
          </p:cNvPr>
          <p:cNvSpPr txBox="1">
            <a:spLocks/>
          </p:cNvSpPr>
          <p:nvPr/>
        </p:nvSpPr>
        <p:spPr>
          <a:xfrm>
            <a:off x="838200" y="1941186"/>
            <a:ext cx="10744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系統的文献検索を実施（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2005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月～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月）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健常者参照モデルを用いて精神神経疾患患者の個人逸脱を評価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する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研究を包含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脳画像・神経生理学的測定を用いた英語論文を対象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PRISMA 2020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ガイドラインに準拠し構造化データ抽出を実施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C75742-F9B2-55B5-19E1-D718ADD064DB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94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2721C-BAC7-F7C5-29C0-1DA0974E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BDF06BB-3EC2-CDB7-5233-6281747119DE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254D4069-AFB8-1030-EB3E-03E786C1810D}"/>
              </a:ext>
            </a:extLst>
          </p:cNvPr>
          <p:cNvSpPr txBox="1">
            <a:spLocks/>
          </p:cNvSpPr>
          <p:nvPr/>
        </p:nvSpPr>
        <p:spPr>
          <a:xfrm>
            <a:off x="65434" y="122219"/>
            <a:ext cx="1757951" cy="7052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結果</a:t>
            </a:r>
            <a:endParaRPr lang="ja-JP" altLang="en-US" sz="3600" b="1" dirty="0">
              <a:solidFill>
                <a:srgbClr val="1F2937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6E7879-0C0B-9B9D-6AA5-BE6377F4C98C}"/>
              </a:ext>
            </a:extLst>
          </p:cNvPr>
          <p:cNvSpPr txBox="1"/>
          <p:nvPr/>
        </p:nvSpPr>
        <p:spPr>
          <a:xfrm>
            <a:off x="1388870" y="6152248"/>
            <a:ext cx="9414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主要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ja-JP" altLang="en-US" sz="2000" dirty="0">
                <a:solidFill>
                  <a:srgbClr val="374151"/>
                </a:solidFill>
              </a:rPr>
              <a:t>大データベースより 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17,836</a:t>
            </a:r>
            <a:r>
              <a:rPr lang="ja-JP" altLang="en-US" sz="2000" dirty="0">
                <a:solidFill>
                  <a:srgbClr val="374151"/>
                </a:solidFill>
              </a:rPr>
              <a:t>件をスクリーニング、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124</a:t>
            </a:r>
            <a:r>
              <a:rPr lang="ja-JP" altLang="en-US" sz="2000" dirty="0">
                <a:solidFill>
                  <a:srgbClr val="374151"/>
                </a:solidFill>
              </a:rPr>
              <a:t>件を選定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887071-28A3-9F96-A3EB-28012A4DA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2950964"/>
            <a:ext cx="4457596" cy="4680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screened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(n=17836)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3657610E-4590-6218-CA61-549516F80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4155261"/>
            <a:ext cx="4457596" cy="468000"/>
          </a:xfrm>
          <a:prstGeom prst="roundRect">
            <a:avLst>
              <a:gd name="adj" fmla="val 457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assessed for eligibility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(n=208)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EF876980-8524-A56A-114E-7BFF67F4A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1" y="2285028"/>
            <a:ext cx="3618000" cy="468000"/>
          </a:xfrm>
          <a:prstGeom prst="roundRect">
            <a:avLst>
              <a:gd name="adj" fmla="val 2023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Duplicate references removed </a:t>
            </a: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(n=20882)</a:t>
            </a:r>
            <a:endParaRPr kumimoji="0" lang="en-AU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30BE978-503F-5971-6C87-6FB52F0E7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1" y="2950964"/>
            <a:ext cx="3618000" cy="4680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excluded </a:t>
            </a: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(n=17628)</a:t>
            </a:r>
            <a:endParaRPr kumimoji="0" lang="en-AU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45D48D07-FD19-A028-B224-15BAC0A0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5359558"/>
            <a:ext cx="4457596" cy="468000"/>
          </a:xfrm>
          <a:prstGeom prst="roundRect">
            <a:avLst>
              <a:gd name="adj" fmla="val 5162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included in review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(n=124)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Arrow Connector 34">
            <a:extLst>
              <a:ext uri="{FF2B5EF4-FFF2-40B4-BE49-F238E27FC236}">
                <a16:creationId xmlns:a16="http://schemas.microsoft.com/office/drawing/2014/main" id="{C482B7FE-5015-82E8-EF89-9A2D43374779}"/>
              </a:ext>
            </a:extLst>
          </p:cNvPr>
          <p:cNvCxnSpPr>
            <a:cxnSpLocks/>
          </p:cNvCxnSpPr>
          <p:nvPr/>
        </p:nvCxnSpPr>
        <p:spPr>
          <a:xfrm>
            <a:off x="5158235" y="2523841"/>
            <a:ext cx="2936907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26A31A7D-1495-7ACE-03A5-267DAF17A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0" y="3580440"/>
            <a:ext cx="3618000" cy="1779116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exclude</a:t>
            </a:r>
            <a:r>
              <a:rPr kumimoji="0" lang="en-AU" altLang="ja-JP" sz="1400" b="1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d </a:t>
            </a:r>
            <a:r>
              <a:rPr kumimoji="0" lang="en-AU" altLang="ja-JP" sz="1400" b="1" dirty="0">
                <a:solidFill>
                  <a:srgbClr val="0040CF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 84)</a:t>
            </a:r>
            <a:endParaRPr kumimoji="0" lang="en-AU" altLang="ja-JP" sz="1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Not normative modelling (n=51)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Brain age gap only (n=17) </a:t>
            </a:r>
            <a:endParaRPr kumimoji="0" lang="en-US" altLang="ja-JP" sz="1200" dirty="0">
              <a:solidFill>
                <a:srgbClr val="002060"/>
              </a:solidFill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Not population-level (n=16)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individual deviation analysis (n=16)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Review/other study types (n=3)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clinical population (n=18)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neuropsychiatric application (n=14)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5B08CAF8-F1CB-E7CA-C6CC-A33DEF2EB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367913"/>
            <a:ext cx="4457596" cy="1846754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from databases/registers </a:t>
            </a:r>
            <a:r>
              <a:rPr kumimoji="0" lang="en-AU" altLang="ja-JP" sz="1600" b="1" dirty="0">
                <a:solidFill>
                  <a:srgbClr val="0040CF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(n=38718)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Embase (n=11875)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Scopus (n=9300)</a:t>
            </a:r>
            <a:endParaRPr kumimoji="0" lang="en-AU" altLang="ja-JP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PubMed (n=7948)</a:t>
            </a:r>
            <a:endParaRPr kumimoji="0" lang="en-US" altLang="ja-JP" sz="1600" dirty="0">
              <a:solidFill>
                <a:srgbClr val="002060"/>
              </a:solidFill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PsycINFO (n=7439)</a:t>
            </a:r>
            <a:endParaRPr kumimoji="0" lang="en-AU" altLang="ja-JP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09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MEDLINE (n=2156)</a:t>
            </a:r>
            <a:endParaRPr kumimoji="0" lang="en-AU" altLang="ja-JP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4" name="Straight Arrow Connector 22">
            <a:extLst>
              <a:ext uri="{FF2B5EF4-FFF2-40B4-BE49-F238E27FC236}">
                <a16:creationId xmlns:a16="http://schemas.microsoft.com/office/drawing/2014/main" id="{09469A57-FFDF-CB0E-0030-143162BD7D5C}"/>
              </a:ext>
            </a:extLst>
          </p:cNvPr>
          <p:cNvCxnSpPr>
            <a:cxnSpLocks/>
          </p:cNvCxnSpPr>
          <p:nvPr/>
        </p:nvCxnSpPr>
        <p:spPr>
          <a:xfrm>
            <a:off x="5145036" y="3436710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22">
            <a:extLst>
              <a:ext uri="{FF2B5EF4-FFF2-40B4-BE49-F238E27FC236}">
                <a16:creationId xmlns:a16="http://schemas.microsoft.com/office/drawing/2014/main" id="{EC461358-BD9A-CF66-5AC2-F355D0E458B3}"/>
              </a:ext>
            </a:extLst>
          </p:cNvPr>
          <p:cNvCxnSpPr>
            <a:cxnSpLocks/>
          </p:cNvCxnSpPr>
          <p:nvPr/>
        </p:nvCxnSpPr>
        <p:spPr>
          <a:xfrm>
            <a:off x="5145036" y="2239599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22">
            <a:extLst>
              <a:ext uri="{FF2B5EF4-FFF2-40B4-BE49-F238E27FC236}">
                <a16:creationId xmlns:a16="http://schemas.microsoft.com/office/drawing/2014/main" id="{A0128444-2F90-F093-AB25-4A5C4635AC6B}"/>
              </a:ext>
            </a:extLst>
          </p:cNvPr>
          <p:cNvCxnSpPr>
            <a:cxnSpLocks/>
          </p:cNvCxnSpPr>
          <p:nvPr/>
        </p:nvCxnSpPr>
        <p:spPr>
          <a:xfrm>
            <a:off x="5145036" y="4641293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60">
            <a:extLst>
              <a:ext uri="{FF2B5EF4-FFF2-40B4-BE49-F238E27FC236}">
                <a16:creationId xmlns:a16="http://schemas.microsoft.com/office/drawing/2014/main" id="{B5CE5857-DBE4-CCFD-3C01-9B14EE518479}"/>
              </a:ext>
            </a:extLst>
          </p:cNvPr>
          <p:cNvCxnSpPr>
            <a:cxnSpLocks/>
          </p:cNvCxnSpPr>
          <p:nvPr/>
        </p:nvCxnSpPr>
        <p:spPr>
          <a:xfrm>
            <a:off x="7363139" y="3193431"/>
            <a:ext cx="732003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60">
            <a:extLst>
              <a:ext uri="{FF2B5EF4-FFF2-40B4-BE49-F238E27FC236}">
                <a16:creationId xmlns:a16="http://schemas.microsoft.com/office/drawing/2014/main" id="{8C18EF7D-2DA8-AA5C-C0F6-5316D88503F6}"/>
              </a:ext>
            </a:extLst>
          </p:cNvPr>
          <p:cNvCxnSpPr>
            <a:cxnSpLocks/>
          </p:cNvCxnSpPr>
          <p:nvPr/>
        </p:nvCxnSpPr>
        <p:spPr>
          <a:xfrm>
            <a:off x="7363139" y="4387231"/>
            <a:ext cx="732003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4F6FA8-5163-65D3-52A2-889D6F15D7C5}"/>
              </a:ext>
            </a:extLst>
          </p:cNvPr>
          <p:cNvSpPr txBox="1"/>
          <p:nvPr/>
        </p:nvSpPr>
        <p:spPr>
          <a:xfrm>
            <a:off x="11582399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66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07A70-0247-9BE5-0E4E-2B59992F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05CFB2E-374F-4887-5318-6DD38D05BC7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D86ED6-D708-44C9-9CAA-2BFD3EBC3E05}"/>
              </a:ext>
            </a:extLst>
          </p:cNvPr>
          <p:cNvSpPr txBox="1"/>
          <p:nvPr/>
        </p:nvSpPr>
        <p:spPr>
          <a:xfrm>
            <a:off x="655735" y="6026946"/>
            <a:ext cx="10880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モデル手法の多様化と研究数の増加（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</a:t>
            </a:r>
            <a:r>
              <a:rPr lang="ja-JP" altLang="en-US" sz="2000" dirty="0">
                <a:solidFill>
                  <a:srgbClr val="374151"/>
                </a:solidFill>
              </a:rPr>
              <a:t>年以降 顕著）</a:t>
            </a:r>
            <a:endParaRPr lang="en-US" altLang="ja-JP" sz="2000" dirty="0">
              <a:solidFill>
                <a:srgbClr val="374151"/>
              </a:solidFill>
            </a:endParaRPr>
          </a:p>
        </p:txBody>
      </p: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535FDFEC-2734-4037-3692-EDED97DD5D21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8071767B-E96B-7F9A-C4F1-1A605DB798D7}"/>
              </a:ext>
            </a:extLst>
          </p:cNvPr>
          <p:cNvSpPr/>
          <p:nvPr/>
        </p:nvSpPr>
        <p:spPr>
          <a:xfrm>
            <a:off x="6080039" y="5049783"/>
            <a:ext cx="109221" cy="14726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0" name="フリーフォーム: 図形 59">
            <a:extLst>
              <a:ext uri="{FF2B5EF4-FFF2-40B4-BE49-F238E27FC236}">
                <a16:creationId xmlns:a16="http://schemas.microsoft.com/office/drawing/2014/main" id="{5ADEFAB5-49B7-58FE-F80F-B1FF9BDF369E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8" name="フリーフォーム: 図形 67">
            <a:extLst>
              <a:ext uri="{FF2B5EF4-FFF2-40B4-BE49-F238E27FC236}">
                <a16:creationId xmlns:a16="http://schemas.microsoft.com/office/drawing/2014/main" id="{9D96E6A9-6836-A390-100C-CE4047C27A97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9" name="フリーフォーム: 図形 68">
            <a:extLst>
              <a:ext uri="{FF2B5EF4-FFF2-40B4-BE49-F238E27FC236}">
                <a16:creationId xmlns:a16="http://schemas.microsoft.com/office/drawing/2014/main" id="{7536BB40-134B-DA20-DCE6-CD71B72009EA}"/>
              </a:ext>
            </a:extLst>
          </p:cNvPr>
          <p:cNvSpPr/>
          <p:nvPr/>
        </p:nvSpPr>
        <p:spPr>
          <a:xfrm>
            <a:off x="6080039" y="5049783"/>
            <a:ext cx="109221" cy="14726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6" name="フリーフォーム: 図形 75">
            <a:extLst>
              <a:ext uri="{FF2B5EF4-FFF2-40B4-BE49-F238E27FC236}">
                <a16:creationId xmlns:a16="http://schemas.microsoft.com/office/drawing/2014/main" id="{8782A385-477D-A360-DEAF-9657CAA018EE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8" name="フリーフォーム: 図形 77">
            <a:extLst>
              <a:ext uri="{FF2B5EF4-FFF2-40B4-BE49-F238E27FC236}">
                <a16:creationId xmlns:a16="http://schemas.microsoft.com/office/drawing/2014/main" id="{14FCB1D3-65C8-0EB3-5C6C-3964BC6AC35B}"/>
              </a:ext>
            </a:extLst>
          </p:cNvPr>
          <p:cNvSpPr/>
          <p:nvPr/>
        </p:nvSpPr>
        <p:spPr>
          <a:xfrm>
            <a:off x="7563877" y="5049783"/>
            <a:ext cx="111757" cy="14069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2" name="グラフィックス 5">
            <a:extLst>
              <a:ext uri="{FF2B5EF4-FFF2-40B4-BE49-F238E27FC236}">
                <a16:creationId xmlns:a16="http://schemas.microsoft.com/office/drawing/2014/main" id="{2629F2CA-F57B-0387-EFE5-AC78B489425F}"/>
              </a:ext>
            </a:extLst>
          </p:cNvPr>
          <p:cNvGrpSpPr/>
          <p:nvPr/>
        </p:nvGrpSpPr>
        <p:grpSpPr>
          <a:xfrm>
            <a:off x="1356902" y="5285517"/>
            <a:ext cx="9657462" cy="369332"/>
            <a:chOff x="1739294" y="5959941"/>
            <a:chExt cx="8230977" cy="241032"/>
          </a:xfrm>
          <a:solidFill>
            <a:srgbClr val="374151"/>
          </a:solidFill>
        </p:grpSpPr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14584A7-F23D-63C4-A32C-4D92D0B099E7}"/>
                </a:ext>
              </a:extLst>
            </p:cNvPr>
            <p:cNvSpPr txBox="1"/>
            <p:nvPr/>
          </p:nvSpPr>
          <p:spPr>
            <a:xfrm>
              <a:off x="173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2018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A01712ED-8EC2-5043-8518-A18A1486104A}"/>
                </a:ext>
              </a:extLst>
            </p:cNvPr>
            <p:cNvSpPr txBox="1"/>
            <p:nvPr/>
          </p:nvSpPr>
          <p:spPr>
            <a:xfrm>
              <a:off x="3006119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2019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300DA541-7A94-E23B-20AA-A0499D8A506E}"/>
                </a:ext>
              </a:extLst>
            </p:cNvPr>
            <p:cNvSpPr txBox="1"/>
            <p:nvPr/>
          </p:nvSpPr>
          <p:spPr>
            <a:xfrm>
              <a:off x="427294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BE1CE8F-42D2-EFBA-4794-7CE99B2C34C1}"/>
                </a:ext>
              </a:extLst>
            </p:cNvPr>
            <p:cNvSpPr txBox="1"/>
            <p:nvPr/>
          </p:nvSpPr>
          <p:spPr>
            <a:xfrm>
              <a:off x="554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2021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9B81901-ACB4-69DF-8632-4D33FD2D0024}"/>
                </a:ext>
              </a:extLst>
            </p:cNvPr>
            <p:cNvSpPr txBox="1"/>
            <p:nvPr/>
          </p:nvSpPr>
          <p:spPr>
            <a:xfrm>
              <a:off x="6816119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2022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51CD1843-DE8F-1FDA-B0FF-866D141B389A}"/>
                </a:ext>
              </a:extLst>
            </p:cNvPr>
            <p:cNvSpPr txBox="1"/>
            <p:nvPr/>
          </p:nvSpPr>
          <p:spPr>
            <a:xfrm>
              <a:off x="808294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2023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2082A851-80A1-AEFB-ACF1-1208E415C529}"/>
                </a:ext>
              </a:extLst>
            </p:cNvPr>
            <p:cNvSpPr txBox="1"/>
            <p:nvPr/>
          </p:nvSpPr>
          <p:spPr>
            <a:xfrm>
              <a:off x="935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2024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</p:grp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26C01F3F-569F-4EAD-1E1C-52553F0BDDAD}"/>
              </a:ext>
            </a:extLst>
          </p:cNvPr>
          <p:cNvSpPr/>
          <p:nvPr/>
        </p:nvSpPr>
        <p:spPr>
          <a:xfrm>
            <a:off x="1663082" y="4399366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838C84F5-528A-7FDD-0AB5-DA1791D3E372}"/>
              </a:ext>
            </a:extLst>
          </p:cNvPr>
          <p:cNvSpPr/>
          <p:nvPr/>
        </p:nvSpPr>
        <p:spPr>
          <a:xfrm>
            <a:off x="1663082" y="3669608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26D55EFC-0938-6218-A727-625DD66B4D41}"/>
              </a:ext>
            </a:extLst>
          </p:cNvPr>
          <p:cNvSpPr/>
          <p:nvPr/>
        </p:nvSpPr>
        <p:spPr>
          <a:xfrm>
            <a:off x="1663082" y="2939852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CA376C28-F207-14A3-EA10-1BFFFA80C50D}"/>
              </a:ext>
            </a:extLst>
          </p:cNvPr>
          <p:cNvSpPr/>
          <p:nvPr/>
        </p:nvSpPr>
        <p:spPr>
          <a:xfrm>
            <a:off x="1663082" y="2210095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0B9EF918-E007-4720-2229-FAAEF4CBDC74}"/>
              </a:ext>
            </a:extLst>
          </p:cNvPr>
          <p:cNvSpPr/>
          <p:nvPr/>
        </p:nvSpPr>
        <p:spPr>
          <a:xfrm>
            <a:off x="1663082" y="1480338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76DC55AD-DD56-CB64-F83E-8EB9F752E936}"/>
              </a:ext>
            </a:extLst>
          </p:cNvPr>
          <p:cNvSpPr/>
          <p:nvPr/>
        </p:nvSpPr>
        <p:spPr>
          <a:xfrm>
            <a:off x="1663082" y="5129122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19050" cap="flat">
            <a:solidFill>
              <a:srgbClr val="37415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A05C35C7-6A1B-55FA-ADF8-CC5A2C6A7304}"/>
              </a:ext>
            </a:extLst>
          </p:cNvPr>
          <p:cNvSpPr/>
          <p:nvPr/>
        </p:nvSpPr>
        <p:spPr>
          <a:xfrm>
            <a:off x="1663082" y="1402845"/>
            <a:ext cx="11176" cy="3744805"/>
          </a:xfrm>
          <a:custGeom>
            <a:avLst/>
            <a:gdLst>
              <a:gd name="connsiteX0" fmla="*/ 120 w 9525"/>
              <a:gd name="connsiteY0" fmla="*/ 80 h 4762500"/>
              <a:gd name="connsiteX1" fmla="*/ 120 w 9525"/>
              <a:gd name="connsiteY1" fmla="*/ 476258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4762500">
                <a:moveTo>
                  <a:pt x="120" y="80"/>
                </a:moveTo>
                <a:lnTo>
                  <a:pt x="120" y="4762580"/>
                </a:lnTo>
              </a:path>
            </a:pathLst>
          </a:custGeom>
          <a:ln w="19050" cap="flat">
            <a:solidFill>
              <a:srgbClr val="37415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グラフィックス 5">
            <a:extLst>
              <a:ext uri="{FF2B5EF4-FFF2-40B4-BE49-F238E27FC236}">
                <a16:creationId xmlns:a16="http://schemas.microsoft.com/office/drawing/2014/main" id="{9FA7E3B7-1FE6-AF90-A63D-4134E585D782}"/>
              </a:ext>
            </a:extLst>
          </p:cNvPr>
          <p:cNvGrpSpPr/>
          <p:nvPr/>
        </p:nvGrpSpPr>
        <p:grpSpPr>
          <a:xfrm>
            <a:off x="1189269" y="1271855"/>
            <a:ext cx="450764" cy="4018116"/>
            <a:chOff x="1596419" y="3340566"/>
            <a:chExt cx="384182" cy="2622282"/>
          </a:xfrm>
          <a:solidFill>
            <a:srgbClr val="374151"/>
          </a:solidFill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59D402A-FD56-EC04-7606-5092AA4A86B0}"/>
                </a:ext>
              </a:extLst>
            </p:cNvPr>
            <p:cNvSpPr txBox="1"/>
            <p:nvPr/>
          </p:nvSpPr>
          <p:spPr>
            <a:xfrm>
              <a:off x="1681177" y="57218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5768F0D-D498-7B06-C706-F7C9DBA324D8}"/>
                </a:ext>
              </a:extLst>
            </p:cNvPr>
            <p:cNvSpPr txBox="1"/>
            <p:nvPr/>
          </p:nvSpPr>
          <p:spPr>
            <a:xfrm>
              <a:off x="1681177" y="524556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A5A12A2E-A7C9-EFD8-C9BE-9B18C24DDBCA}"/>
                </a:ext>
              </a:extLst>
            </p:cNvPr>
            <p:cNvSpPr txBox="1"/>
            <p:nvPr/>
          </p:nvSpPr>
          <p:spPr>
            <a:xfrm>
              <a:off x="1681177" y="47693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4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022D10CE-84C9-3CF4-1A01-41E1229078A0}"/>
                </a:ext>
              </a:extLst>
            </p:cNvPr>
            <p:cNvSpPr txBox="1"/>
            <p:nvPr/>
          </p:nvSpPr>
          <p:spPr>
            <a:xfrm>
              <a:off x="1681177" y="429306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6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BD8A7201-D31F-9260-9ACA-CA4E3487E092}"/>
                </a:ext>
              </a:extLst>
            </p:cNvPr>
            <p:cNvSpPr txBox="1"/>
            <p:nvPr/>
          </p:nvSpPr>
          <p:spPr>
            <a:xfrm>
              <a:off x="1681177" y="38168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8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4F7BD1C3-2E38-147A-6BCA-1809537962FC}"/>
                </a:ext>
              </a:extLst>
            </p:cNvPr>
            <p:cNvSpPr txBox="1"/>
            <p:nvPr/>
          </p:nvSpPr>
          <p:spPr>
            <a:xfrm>
              <a:off x="1596419" y="3340566"/>
              <a:ext cx="384182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10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</p:grpSp>
      <p:sp>
        <p:nvSpPr>
          <p:cNvPr id="41" name="フリーフォーム: 図形 40">
            <a:extLst>
              <a:ext uri="{FF2B5EF4-FFF2-40B4-BE49-F238E27FC236}">
                <a16:creationId xmlns:a16="http://schemas.microsoft.com/office/drawing/2014/main" id="{E6BA451E-F37E-A826-8D44-6328A00DAB66}"/>
              </a:ext>
            </a:extLst>
          </p:cNvPr>
          <p:cNvSpPr/>
          <p:nvPr/>
        </p:nvSpPr>
        <p:spPr>
          <a:xfrm>
            <a:off x="1663082" y="1480338"/>
            <a:ext cx="8940599" cy="3648784"/>
          </a:xfrm>
          <a:custGeom>
            <a:avLst/>
            <a:gdLst>
              <a:gd name="connsiteX0" fmla="*/ 120 w 7620000"/>
              <a:gd name="connsiteY0" fmla="*/ 2381330 h 2381250"/>
              <a:gd name="connsiteX1" fmla="*/ 1266945 w 7620000"/>
              <a:gd name="connsiteY1" fmla="*/ 2183210 h 2381250"/>
              <a:gd name="connsiteX2" fmla="*/ 2533770 w 7620000"/>
              <a:gd name="connsiteY2" fmla="*/ 2381330 h 2381250"/>
              <a:gd name="connsiteX3" fmla="*/ 3810120 w 7620000"/>
              <a:gd name="connsiteY3" fmla="*/ 2381330 h 2381250"/>
              <a:gd name="connsiteX4" fmla="*/ 5076945 w 7620000"/>
              <a:gd name="connsiteY4" fmla="*/ 1786018 h 2381250"/>
              <a:gd name="connsiteX5" fmla="*/ 6343770 w 7620000"/>
              <a:gd name="connsiteY5" fmla="*/ 1388825 h 2381250"/>
              <a:gd name="connsiteX6" fmla="*/ 7620120 w 7620000"/>
              <a:gd name="connsiteY6" fmla="*/ 80 h 238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2381250">
                <a:moveTo>
                  <a:pt x="120" y="2381330"/>
                </a:moveTo>
                <a:lnTo>
                  <a:pt x="1266945" y="2183210"/>
                </a:lnTo>
                <a:lnTo>
                  <a:pt x="2533770" y="2381330"/>
                </a:lnTo>
                <a:lnTo>
                  <a:pt x="3810120" y="2381330"/>
                </a:lnTo>
                <a:lnTo>
                  <a:pt x="5076945" y="1786018"/>
                </a:lnTo>
                <a:lnTo>
                  <a:pt x="6343770" y="138882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3B82F6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34D5F11F-0D18-1EC0-154E-5E88D631DC55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フリーフォーム: 図形 42">
            <a:extLst>
              <a:ext uri="{FF2B5EF4-FFF2-40B4-BE49-F238E27FC236}">
                <a16:creationId xmlns:a16="http://schemas.microsoft.com/office/drawing/2014/main" id="{AFB0F7F6-02BB-C449-D417-67BBD2593143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36D6D070-3E63-18B3-930D-96A92D996868}"/>
              </a:ext>
            </a:extLst>
          </p:cNvPr>
          <p:cNvSpPr/>
          <p:nvPr/>
        </p:nvSpPr>
        <p:spPr>
          <a:xfrm>
            <a:off x="7563877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1653D48C-D32B-CB93-2D15-4BABADC38BF5}"/>
              </a:ext>
            </a:extLst>
          </p:cNvPr>
          <p:cNvSpPr/>
          <p:nvPr/>
        </p:nvSpPr>
        <p:spPr>
          <a:xfrm>
            <a:off x="9050252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フリーフォーム: 図形 47">
            <a:extLst>
              <a:ext uri="{FF2B5EF4-FFF2-40B4-BE49-F238E27FC236}">
                <a16:creationId xmlns:a16="http://schemas.microsoft.com/office/drawing/2014/main" id="{55DE6A5F-8B65-EB29-1818-CBEB573DEBA2}"/>
              </a:ext>
            </a:extLst>
          </p:cNvPr>
          <p:cNvSpPr/>
          <p:nvPr/>
        </p:nvSpPr>
        <p:spPr>
          <a:xfrm>
            <a:off x="10547803" y="1407362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7C1623A9-BD6D-6381-1FA7-35832B32CE94}"/>
              </a:ext>
            </a:extLst>
          </p:cNvPr>
          <p:cNvSpPr/>
          <p:nvPr/>
        </p:nvSpPr>
        <p:spPr>
          <a:xfrm>
            <a:off x="1663082" y="1783915"/>
            <a:ext cx="8940599" cy="3041626"/>
          </a:xfrm>
          <a:custGeom>
            <a:avLst/>
            <a:gdLst>
              <a:gd name="connsiteX0" fmla="*/ 120 w 7620000"/>
              <a:gd name="connsiteY0" fmla="*/ 1985090 h 1985010"/>
              <a:gd name="connsiteX1" fmla="*/ 1266945 w 7620000"/>
              <a:gd name="connsiteY1" fmla="*/ 1985090 h 1985010"/>
              <a:gd name="connsiteX2" fmla="*/ 2533770 w 7620000"/>
              <a:gd name="connsiteY2" fmla="*/ 1786018 h 1985010"/>
              <a:gd name="connsiteX3" fmla="*/ 3810120 w 7620000"/>
              <a:gd name="connsiteY3" fmla="*/ 1587898 h 1985010"/>
              <a:gd name="connsiteX4" fmla="*/ 5076945 w 7620000"/>
              <a:gd name="connsiteY4" fmla="*/ 1587898 h 1985010"/>
              <a:gd name="connsiteX5" fmla="*/ 6343770 w 7620000"/>
              <a:gd name="connsiteY5" fmla="*/ 1389778 h 1985010"/>
              <a:gd name="connsiteX6" fmla="*/ 7620120 w 7620000"/>
              <a:gd name="connsiteY6" fmla="*/ 80 h 198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985010">
                <a:moveTo>
                  <a:pt x="120" y="1985090"/>
                </a:moveTo>
                <a:lnTo>
                  <a:pt x="1266945" y="1985090"/>
                </a:lnTo>
                <a:lnTo>
                  <a:pt x="2533770" y="1786018"/>
                </a:lnTo>
                <a:lnTo>
                  <a:pt x="3810120" y="1587898"/>
                </a:lnTo>
                <a:lnTo>
                  <a:pt x="5076945" y="1587898"/>
                </a:lnTo>
                <a:lnTo>
                  <a:pt x="6343770" y="1389778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F59E0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4C5B6066-040B-2BC2-5E91-D7CFFD295420}"/>
              </a:ext>
            </a:extLst>
          </p:cNvPr>
          <p:cNvSpPr/>
          <p:nvPr/>
        </p:nvSpPr>
        <p:spPr>
          <a:xfrm>
            <a:off x="16072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DD915778-B943-5401-12A5-42FBF440531B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フリーフォーム: 図形 51">
            <a:extLst>
              <a:ext uri="{FF2B5EF4-FFF2-40B4-BE49-F238E27FC236}">
                <a16:creationId xmlns:a16="http://schemas.microsoft.com/office/drawing/2014/main" id="{BE7ACAE3-09F9-5347-1326-B6562FBEE51F}"/>
              </a:ext>
            </a:extLst>
          </p:cNvPr>
          <p:cNvSpPr/>
          <p:nvPr/>
        </p:nvSpPr>
        <p:spPr>
          <a:xfrm>
            <a:off x="4579953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470F6C20-DE18-F938-3DA9-FB1F67E7B097}"/>
              </a:ext>
            </a:extLst>
          </p:cNvPr>
          <p:cNvSpPr/>
          <p:nvPr/>
        </p:nvSpPr>
        <p:spPr>
          <a:xfrm>
            <a:off x="6077503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CA5F5696-5F1A-5A8D-AA2E-61C05A34B7C1}"/>
              </a:ext>
            </a:extLst>
          </p:cNvPr>
          <p:cNvSpPr/>
          <p:nvPr/>
        </p:nvSpPr>
        <p:spPr>
          <a:xfrm>
            <a:off x="7563877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フリーフォーム: 図形 54">
            <a:extLst>
              <a:ext uri="{FF2B5EF4-FFF2-40B4-BE49-F238E27FC236}">
                <a16:creationId xmlns:a16="http://schemas.microsoft.com/office/drawing/2014/main" id="{6A26E5F6-F266-9852-ED5F-FAF5CD958C9E}"/>
              </a:ext>
            </a:extLst>
          </p:cNvPr>
          <p:cNvSpPr/>
          <p:nvPr/>
        </p:nvSpPr>
        <p:spPr>
          <a:xfrm>
            <a:off x="9050252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2AC670FF-F8A3-6F1B-1E45-93C534352F21}"/>
              </a:ext>
            </a:extLst>
          </p:cNvPr>
          <p:cNvSpPr/>
          <p:nvPr/>
        </p:nvSpPr>
        <p:spPr>
          <a:xfrm>
            <a:off x="10547803" y="171094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フリーフォーム: 図形 56">
            <a:extLst>
              <a:ext uri="{FF2B5EF4-FFF2-40B4-BE49-F238E27FC236}">
                <a16:creationId xmlns:a16="http://schemas.microsoft.com/office/drawing/2014/main" id="{A506B559-2BE4-B27F-3F4A-7AE532768FFA}"/>
              </a:ext>
            </a:extLst>
          </p:cNvPr>
          <p:cNvSpPr/>
          <p:nvPr/>
        </p:nvSpPr>
        <p:spPr>
          <a:xfrm>
            <a:off x="1663082" y="2696112"/>
            <a:ext cx="8940599" cy="2433008"/>
          </a:xfrm>
          <a:custGeom>
            <a:avLst/>
            <a:gdLst>
              <a:gd name="connsiteX0" fmla="*/ 120 w 7620000"/>
              <a:gd name="connsiteY0" fmla="*/ 1587898 h 1587817"/>
              <a:gd name="connsiteX1" fmla="*/ 1266945 w 7620000"/>
              <a:gd name="connsiteY1" fmla="*/ 1587898 h 1587817"/>
              <a:gd name="connsiteX2" fmla="*/ 2533770 w 7620000"/>
              <a:gd name="connsiteY2" fmla="*/ 1587898 h 1587817"/>
              <a:gd name="connsiteX3" fmla="*/ 3810120 w 7620000"/>
              <a:gd name="connsiteY3" fmla="*/ 1389778 h 1587817"/>
              <a:gd name="connsiteX4" fmla="*/ 5076945 w 7620000"/>
              <a:gd name="connsiteY4" fmla="*/ 1389778 h 1587817"/>
              <a:gd name="connsiteX5" fmla="*/ 6343770 w 7620000"/>
              <a:gd name="connsiteY5" fmla="*/ 992585 h 1587817"/>
              <a:gd name="connsiteX6" fmla="*/ 7620120 w 7620000"/>
              <a:gd name="connsiteY6" fmla="*/ 80 h 158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587817">
                <a:moveTo>
                  <a:pt x="120" y="1587898"/>
                </a:moveTo>
                <a:lnTo>
                  <a:pt x="1266945" y="1587898"/>
                </a:lnTo>
                <a:lnTo>
                  <a:pt x="2533770" y="1587898"/>
                </a:lnTo>
                <a:lnTo>
                  <a:pt x="3810120" y="1389778"/>
                </a:lnTo>
                <a:lnTo>
                  <a:pt x="5076945" y="1389778"/>
                </a:lnTo>
                <a:lnTo>
                  <a:pt x="6343770" y="99258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A78BFA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フリーフォーム: 図形 57">
            <a:extLst>
              <a:ext uri="{FF2B5EF4-FFF2-40B4-BE49-F238E27FC236}">
                <a16:creationId xmlns:a16="http://schemas.microsoft.com/office/drawing/2014/main" id="{45B202A2-F1BA-6558-94F0-9EC10CA87DB2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65727EF6-EDCD-362E-4CFF-AD84F8D16DAD}"/>
              </a:ext>
            </a:extLst>
          </p:cNvPr>
          <p:cNvSpPr/>
          <p:nvPr/>
        </p:nvSpPr>
        <p:spPr>
          <a:xfrm>
            <a:off x="3098791" y="5060562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フリーフォーム: 図形 60">
            <a:extLst>
              <a:ext uri="{FF2B5EF4-FFF2-40B4-BE49-F238E27FC236}">
                <a16:creationId xmlns:a16="http://schemas.microsoft.com/office/drawing/2014/main" id="{BDE67AAF-FC87-EAC9-5B0B-CF2D72FFFEF7}"/>
              </a:ext>
            </a:extLst>
          </p:cNvPr>
          <p:cNvSpPr/>
          <p:nvPr/>
        </p:nvSpPr>
        <p:spPr>
          <a:xfrm>
            <a:off x="60775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EA5D2289-9047-188C-A958-98AE1E6DE58F}"/>
              </a:ext>
            </a:extLst>
          </p:cNvPr>
          <p:cNvSpPr/>
          <p:nvPr/>
        </p:nvSpPr>
        <p:spPr>
          <a:xfrm>
            <a:off x="7563877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2E167591-74FA-D166-DA5A-4EC0CD08FA7F}"/>
              </a:ext>
            </a:extLst>
          </p:cNvPr>
          <p:cNvSpPr/>
          <p:nvPr/>
        </p:nvSpPr>
        <p:spPr>
          <a:xfrm>
            <a:off x="9050252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2CED67BE-27E6-C151-112B-65A65180BF9F}"/>
              </a:ext>
            </a:extLst>
          </p:cNvPr>
          <p:cNvSpPr/>
          <p:nvPr/>
        </p:nvSpPr>
        <p:spPr>
          <a:xfrm>
            <a:off x="10547803" y="2623137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98508BF0-8330-4BE1-5147-1C9595FB4587}"/>
              </a:ext>
            </a:extLst>
          </p:cNvPr>
          <p:cNvSpPr/>
          <p:nvPr/>
        </p:nvSpPr>
        <p:spPr>
          <a:xfrm>
            <a:off x="1663082" y="3608307"/>
            <a:ext cx="8940599" cy="1520813"/>
          </a:xfrm>
          <a:custGeom>
            <a:avLst/>
            <a:gdLst>
              <a:gd name="connsiteX0" fmla="*/ 120 w 7620000"/>
              <a:gd name="connsiteY0" fmla="*/ 992585 h 992505"/>
              <a:gd name="connsiteX1" fmla="*/ 1266945 w 7620000"/>
              <a:gd name="connsiteY1" fmla="*/ 794465 h 992505"/>
              <a:gd name="connsiteX2" fmla="*/ 2533770 w 7620000"/>
              <a:gd name="connsiteY2" fmla="*/ 992585 h 992505"/>
              <a:gd name="connsiteX3" fmla="*/ 3810120 w 7620000"/>
              <a:gd name="connsiteY3" fmla="*/ 992585 h 992505"/>
              <a:gd name="connsiteX4" fmla="*/ 5076945 w 7620000"/>
              <a:gd name="connsiteY4" fmla="*/ 595393 h 992505"/>
              <a:gd name="connsiteX5" fmla="*/ 6343770 w 7620000"/>
              <a:gd name="connsiteY5" fmla="*/ 199153 h 992505"/>
              <a:gd name="connsiteX6" fmla="*/ 7620120 w 7620000"/>
              <a:gd name="connsiteY6" fmla="*/ 80 h 992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992505">
                <a:moveTo>
                  <a:pt x="120" y="992585"/>
                </a:moveTo>
                <a:lnTo>
                  <a:pt x="1266945" y="794465"/>
                </a:lnTo>
                <a:lnTo>
                  <a:pt x="2533770" y="992585"/>
                </a:lnTo>
                <a:lnTo>
                  <a:pt x="3810120" y="992585"/>
                </a:lnTo>
                <a:lnTo>
                  <a:pt x="5076945" y="595393"/>
                </a:lnTo>
                <a:lnTo>
                  <a:pt x="6343770" y="199153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34D399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EEC365F9-64BB-73D7-F6CA-5598E6E87F25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フリーフォーム: 図形 66">
            <a:extLst>
              <a:ext uri="{FF2B5EF4-FFF2-40B4-BE49-F238E27FC236}">
                <a16:creationId xmlns:a16="http://schemas.microsoft.com/office/drawing/2014/main" id="{FA74B74A-1127-876E-7394-CF4B298E1D29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92BE4843-DA0A-1C21-A051-AA917CD3BE4A}"/>
              </a:ext>
            </a:extLst>
          </p:cNvPr>
          <p:cNvSpPr/>
          <p:nvPr/>
        </p:nvSpPr>
        <p:spPr>
          <a:xfrm>
            <a:off x="7563877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フリーフォーム: 図形 70">
            <a:extLst>
              <a:ext uri="{FF2B5EF4-FFF2-40B4-BE49-F238E27FC236}">
                <a16:creationId xmlns:a16="http://schemas.microsoft.com/office/drawing/2014/main" id="{80128C45-80C5-638A-00CB-3755DB89EB0F}"/>
              </a:ext>
            </a:extLst>
          </p:cNvPr>
          <p:cNvSpPr/>
          <p:nvPr/>
        </p:nvSpPr>
        <p:spPr>
          <a:xfrm>
            <a:off x="9050252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フリーフォーム: 図形 71">
            <a:extLst>
              <a:ext uri="{FF2B5EF4-FFF2-40B4-BE49-F238E27FC236}">
                <a16:creationId xmlns:a16="http://schemas.microsoft.com/office/drawing/2014/main" id="{C3158FF5-A4DB-2DD8-8E7D-A55F96521C3E}"/>
              </a:ext>
            </a:extLst>
          </p:cNvPr>
          <p:cNvSpPr/>
          <p:nvPr/>
        </p:nvSpPr>
        <p:spPr>
          <a:xfrm>
            <a:off x="10547803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フリーフォーム: 図形 72">
            <a:extLst>
              <a:ext uri="{FF2B5EF4-FFF2-40B4-BE49-F238E27FC236}">
                <a16:creationId xmlns:a16="http://schemas.microsoft.com/office/drawing/2014/main" id="{BBE9182F-C3E7-B9B8-C90D-8B3949BC8653}"/>
              </a:ext>
            </a:extLst>
          </p:cNvPr>
          <p:cNvSpPr/>
          <p:nvPr/>
        </p:nvSpPr>
        <p:spPr>
          <a:xfrm>
            <a:off x="1663082" y="3913346"/>
            <a:ext cx="8940599" cy="1215774"/>
          </a:xfrm>
          <a:custGeom>
            <a:avLst/>
            <a:gdLst>
              <a:gd name="connsiteX0" fmla="*/ 120 w 7620000"/>
              <a:gd name="connsiteY0" fmla="*/ 793512 h 793432"/>
              <a:gd name="connsiteX1" fmla="*/ 1266945 w 7620000"/>
              <a:gd name="connsiteY1" fmla="*/ 595393 h 793432"/>
              <a:gd name="connsiteX2" fmla="*/ 2533770 w 7620000"/>
              <a:gd name="connsiteY2" fmla="*/ 793512 h 793432"/>
              <a:gd name="connsiteX3" fmla="*/ 3810120 w 7620000"/>
              <a:gd name="connsiteY3" fmla="*/ 595393 h 793432"/>
              <a:gd name="connsiteX4" fmla="*/ 5076945 w 7620000"/>
              <a:gd name="connsiteY4" fmla="*/ 793512 h 793432"/>
              <a:gd name="connsiteX5" fmla="*/ 6343770 w 7620000"/>
              <a:gd name="connsiteY5" fmla="*/ 595393 h 793432"/>
              <a:gd name="connsiteX6" fmla="*/ 7620120 w 7620000"/>
              <a:gd name="connsiteY6" fmla="*/ 80 h 79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793432">
                <a:moveTo>
                  <a:pt x="120" y="793512"/>
                </a:moveTo>
                <a:lnTo>
                  <a:pt x="1266945" y="595393"/>
                </a:lnTo>
                <a:lnTo>
                  <a:pt x="2533770" y="793512"/>
                </a:lnTo>
                <a:lnTo>
                  <a:pt x="3810120" y="595393"/>
                </a:lnTo>
                <a:lnTo>
                  <a:pt x="5076945" y="793512"/>
                </a:lnTo>
                <a:lnTo>
                  <a:pt x="6343770" y="595393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F8717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6AAA0B8E-F4C0-2080-EFB5-363485F9EEA4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フリーフォーム: 図形 74">
            <a:extLst>
              <a:ext uri="{FF2B5EF4-FFF2-40B4-BE49-F238E27FC236}">
                <a16:creationId xmlns:a16="http://schemas.microsoft.com/office/drawing/2014/main" id="{5046BED2-6DBF-5396-7D52-C9E724D66564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フリーフォーム: 図形 76">
            <a:extLst>
              <a:ext uri="{FF2B5EF4-FFF2-40B4-BE49-F238E27FC236}">
                <a16:creationId xmlns:a16="http://schemas.microsoft.com/office/drawing/2014/main" id="{AE625F14-2BAE-1BC9-AB25-3F0F0A93322B}"/>
              </a:ext>
            </a:extLst>
          </p:cNvPr>
          <p:cNvSpPr/>
          <p:nvPr/>
        </p:nvSpPr>
        <p:spPr>
          <a:xfrm>
            <a:off x="60775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フリーフォーム: 図形 78">
            <a:extLst>
              <a:ext uri="{FF2B5EF4-FFF2-40B4-BE49-F238E27FC236}">
                <a16:creationId xmlns:a16="http://schemas.microsoft.com/office/drawing/2014/main" id="{552CA5DF-BA51-475E-2C4B-588F873910A4}"/>
              </a:ext>
            </a:extLst>
          </p:cNvPr>
          <p:cNvSpPr/>
          <p:nvPr/>
        </p:nvSpPr>
        <p:spPr>
          <a:xfrm>
            <a:off x="9050252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フリーフォーム: 図形 79">
            <a:extLst>
              <a:ext uri="{FF2B5EF4-FFF2-40B4-BE49-F238E27FC236}">
                <a16:creationId xmlns:a16="http://schemas.microsoft.com/office/drawing/2014/main" id="{20C2406A-DA10-155C-A448-70BD549EB978}"/>
              </a:ext>
            </a:extLst>
          </p:cNvPr>
          <p:cNvSpPr/>
          <p:nvPr/>
        </p:nvSpPr>
        <p:spPr>
          <a:xfrm>
            <a:off x="10547803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フリーフォーム: 図形 80">
            <a:extLst>
              <a:ext uri="{FF2B5EF4-FFF2-40B4-BE49-F238E27FC236}">
                <a16:creationId xmlns:a16="http://schemas.microsoft.com/office/drawing/2014/main" id="{0880260B-C969-0A4E-7957-F3AD956A956A}"/>
              </a:ext>
            </a:extLst>
          </p:cNvPr>
          <p:cNvSpPr/>
          <p:nvPr/>
        </p:nvSpPr>
        <p:spPr>
          <a:xfrm>
            <a:off x="1663082" y="2392534"/>
            <a:ext cx="8940599" cy="2736587"/>
          </a:xfrm>
          <a:custGeom>
            <a:avLst/>
            <a:gdLst>
              <a:gd name="connsiteX0" fmla="*/ 120 w 7620000"/>
              <a:gd name="connsiteY0" fmla="*/ 1786018 h 1785937"/>
              <a:gd name="connsiteX1" fmla="*/ 1266945 w 7620000"/>
              <a:gd name="connsiteY1" fmla="*/ 1587898 h 1785937"/>
              <a:gd name="connsiteX2" fmla="*/ 2533770 w 7620000"/>
              <a:gd name="connsiteY2" fmla="*/ 1587898 h 1785937"/>
              <a:gd name="connsiteX3" fmla="*/ 3810120 w 7620000"/>
              <a:gd name="connsiteY3" fmla="*/ 1190705 h 1785937"/>
              <a:gd name="connsiteX4" fmla="*/ 5076945 w 7620000"/>
              <a:gd name="connsiteY4" fmla="*/ 793512 h 1785937"/>
              <a:gd name="connsiteX5" fmla="*/ 6343770 w 7620000"/>
              <a:gd name="connsiteY5" fmla="*/ 1388825 h 1785937"/>
              <a:gd name="connsiteX6" fmla="*/ 7620120 w 7620000"/>
              <a:gd name="connsiteY6" fmla="*/ 80 h 178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785937">
                <a:moveTo>
                  <a:pt x="120" y="1786018"/>
                </a:moveTo>
                <a:lnTo>
                  <a:pt x="1266945" y="1587898"/>
                </a:lnTo>
                <a:lnTo>
                  <a:pt x="2533770" y="1587898"/>
                </a:lnTo>
                <a:lnTo>
                  <a:pt x="3810120" y="1190705"/>
                </a:lnTo>
                <a:lnTo>
                  <a:pt x="5076945" y="793512"/>
                </a:lnTo>
                <a:lnTo>
                  <a:pt x="6343770" y="138882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78716C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フリーフォーム: 図形 81">
            <a:extLst>
              <a:ext uri="{FF2B5EF4-FFF2-40B4-BE49-F238E27FC236}">
                <a16:creationId xmlns:a16="http://schemas.microsoft.com/office/drawing/2014/main" id="{CEDA2259-BFB6-FEF6-1603-E991F1D97F18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CC53F7BE-629E-5645-7D49-CB4C68DA3832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793FDFB6-6475-8F20-A4D2-49A4E13BE68F}"/>
              </a:ext>
            </a:extLst>
          </p:cNvPr>
          <p:cNvSpPr/>
          <p:nvPr/>
        </p:nvSpPr>
        <p:spPr>
          <a:xfrm>
            <a:off x="457995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86A778C2-FF7B-E9AA-7947-73474F35A463}"/>
              </a:ext>
            </a:extLst>
          </p:cNvPr>
          <p:cNvSpPr/>
          <p:nvPr/>
        </p:nvSpPr>
        <p:spPr>
          <a:xfrm>
            <a:off x="6077503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フリーフォーム: 図形 85">
            <a:extLst>
              <a:ext uri="{FF2B5EF4-FFF2-40B4-BE49-F238E27FC236}">
                <a16:creationId xmlns:a16="http://schemas.microsoft.com/office/drawing/2014/main" id="{AB2335C9-6C65-A206-54AD-A169F4D12C8B}"/>
              </a:ext>
            </a:extLst>
          </p:cNvPr>
          <p:cNvSpPr/>
          <p:nvPr/>
        </p:nvSpPr>
        <p:spPr>
          <a:xfrm>
            <a:off x="7563877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1FB2DC4E-EBE0-F595-DD2D-22D61086D059}"/>
              </a:ext>
            </a:extLst>
          </p:cNvPr>
          <p:cNvSpPr/>
          <p:nvPr/>
        </p:nvSpPr>
        <p:spPr>
          <a:xfrm>
            <a:off x="9050252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DFC5788E-DD70-532B-EAF7-179B94906F72}"/>
              </a:ext>
            </a:extLst>
          </p:cNvPr>
          <p:cNvSpPr/>
          <p:nvPr/>
        </p:nvSpPr>
        <p:spPr>
          <a:xfrm>
            <a:off x="10547803" y="231955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32BC2C15-68D5-D825-CB7E-143D5D64E9F7}"/>
              </a:ext>
            </a:extLst>
          </p:cNvPr>
          <p:cNvSpPr/>
          <p:nvPr/>
        </p:nvSpPr>
        <p:spPr>
          <a:xfrm>
            <a:off x="1738209" y="1557027"/>
            <a:ext cx="3168275" cy="1291772"/>
          </a:xfrm>
          <a:custGeom>
            <a:avLst/>
            <a:gdLst>
              <a:gd name="connsiteX0" fmla="*/ 5667625 w 5715000"/>
              <a:gd name="connsiteY0" fmla="*/ 565 h 619125"/>
              <a:gd name="connsiteX1" fmla="*/ 5715250 w 5715000"/>
              <a:gd name="connsiteY1" fmla="*/ 565 h 619125"/>
              <a:gd name="connsiteX2" fmla="*/ 5715250 w 5715000"/>
              <a:gd name="connsiteY2" fmla="*/ 619690 h 619125"/>
              <a:gd name="connsiteX3" fmla="*/ 5667625 w 5715000"/>
              <a:gd name="connsiteY3" fmla="*/ 619690 h 619125"/>
              <a:gd name="connsiteX4" fmla="*/ 47875 w 5715000"/>
              <a:gd name="connsiteY4" fmla="*/ 619690 h 619125"/>
              <a:gd name="connsiteX5" fmla="*/ 250 w 5715000"/>
              <a:gd name="connsiteY5" fmla="*/ 619690 h 619125"/>
              <a:gd name="connsiteX6" fmla="*/ 250 w 5715000"/>
              <a:gd name="connsiteY6" fmla="*/ 565 h 619125"/>
              <a:gd name="connsiteX7" fmla="*/ 47875 w 5715000"/>
              <a:gd name="connsiteY7" fmla="*/ 56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0" h="619125">
                <a:moveTo>
                  <a:pt x="5667625" y="565"/>
                </a:moveTo>
                <a:cubicBezTo>
                  <a:pt x="5693928" y="565"/>
                  <a:pt x="5715250" y="565"/>
                  <a:pt x="5715250" y="565"/>
                </a:cubicBezTo>
                <a:lnTo>
                  <a:pt x="5715250" y="619690"/>
                </a:lnTo>
                <a:cubicBezTo>
                  <a:pt x="5715250" y="619690"/>
                  <a:pt x="5693928" y="619690"/>
                  <a:pt x="5667625" y="619690"/>
                </a:cubicBezTo>
                <a:lnTo>
                  <a:pt x="47875" y="619690"/>
                </a:lnTo>
                <a:cubicBezTo>
                  <a:pt x="21572" y="619690"/>
                  <a:pt x="250" y="619690"/>
                  <a:pt x="250" y="619690"/>
                </a:cubicBezTo>
                <a:lnTo>
                  <a:pt x="250" y="565"/>
                </a:lnTo>
                <a:cubicBezTo>
                  <a:pt x="250" y="565"/>
                  <a:pt x="21572" y="565"/>
                  <a:pt x="47875" y="565"/>
                </a:cubicBezTo>
                <a:close/>
              </a:path>
            </a:pathLst>
          </a:custGeom>
          <a:solidFill>
            <a:srgbClr val="FDFDFD"/>
          </a:solidFill>
          <a:ln w="9525" cap="flat">
            <a:solidFill>
              <a:srgbClr val="D1D5D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3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162C83B1-6DFF-59D9-6478-3CBB81BA32ED}"/>
              </a:ext>
            </a:extLst>
          </p:cNvPr>
          <p:cNvGrpSpPr/>
          <p:nvPr/>
        </p:nvGrpSpPr>
        <p:grpSpPr>
          <a:xfrm>
            <a:off x="1898613" y="1750649"/>
            <a:ext cx="285750" cy="124546"/>
            <a:chOff x="1918428" y="1565637"/>
            <a:chExt cx="285750" cy="124546"/>
          </a:xfrm>
        </p:grpSpPr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1E029965-FFC0-D873-401D-B2C7E29FE58E}"/>
                </a:ext>
              </a:extLst>
            </p:cNvPr>
            <p:cNvSpPr/>
            <p:nvPr/>
          </p:nvSpPr>
          <p:spPr>
            <a:xfrm>
              <a:off x="1918428" y="1627912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3B82F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フリーフォーム: 図形 92">
              <a:extLst>
                <a:ext uri="{FF2B5EF4-FFF2-40B4-BE49-F238E27FC236}">
                  <a16:creationId xmlns:a16="http://schemas.microsoft.com/office/drawing/2014/main" id="{9146A457-1051-3E5F-9AC6-D6BDBB0E4D94}"/>
                </a:ext>
              </a:extLst>
            </p:cNvPr>
            <p:cNvSpPr/>
            <p:nvPr/>
          </p:nvSpPr>
          <p:spPr>
            <a:xfrm>
              <a:off x="1999030" y="1565637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3B82F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8" name="グループ化 127">
            <a:extLst>
              <a:ext uri="{FF2B5EF4-FFF2-40B4-BE49-F238E27FC236}">
                <a16:creationId xmlns:a16="http://schemas.microsoft.com/office/drawing/2014/main" id="{7F62D66A-01A5-604D-4129-CF3BD4115ED0}"/>
              </a:ext>
            </a:extLst>
          </p:cNvPr>
          <p:cNvGrpSpPr/>
          <p:nvPr/>
        </p:nvGrpSpPr>
        <p:grpSpPr>
          <a:xfrm>
            <a:off x="1898613" y="2149833"/>
            <a:ext cx="285750" cy="124546"/>
            <a:chOff x="1901259" y="1983921"/>
            <a:chExt cx="285750" cy="124546"/>
          </a:xfrm>
        </p:grpSpPr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2BBE081D-B18D-986A-B59D-6EF75CE76E55}"/>
                </a:ext>
              </a:extLst>
            </p:cNvPr>
            <p:cNvSpPr/>
            <p:nvPr/>
          </p:nvSpPr>
          <p:spPr>
            <a:xfrm>
              <a:off x="1901259" y="2047784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フリーフォーム: 図形 95">
              <a:extLst>
                <a:ext uri="{FF2B5EF4-FFF2-40B4-BE49-F238E27FC236}">
                  <a16:creationId xmlns:a16="http://schemas.microsoft.com/office/drawing/2014/main" id="{7400E33F-E956-D3C3-E0EF-4CBC481E6549}"/>
                </a:ext>
              </a:extLst>
            </p:cNvPr>
            <p:cNvSpPr/>
            <p:nvPr/>
          </p:nvSpPr>
          <p:spPr>
            <a:xfrm>
              <a:off x="1981861" y="1983921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BFC1F1E6-DB08-BE6A-0A43-28461C02699C}"/>
              </a:ext>
            </a:extLst>
          </p:cNvPr>
          <p:cNvGrpSpPr/>
          <p:nvPr/>
        </p:nvGrpSpPr>
        <p:grpSpPr>
          <a:xfrm>
            <a:off x="1898613" y="2549017"/>
            <a:ext cx="285750" cy="124546"/>
            <a:chOff x="1890206" y="2364005"/>
            <a:chExt cx="285750" cy="124546"/>
          </a:xfrm>
        </p:grpSpPr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C62CE3E2-A85F-7829-5813-F1B7C8C0FF6A}"/>
                </a:ext>
              </a:extLst>
            </p:cNvPr>
            <p:cNvSpPr/>
            <p:nvPr/>
          </p:nvSpPr>
          <p:spPr>
            <a:xfrm>
              <a:off x="1890206" y="2426280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A78B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00C8263D-01B1-C151-7C30-E5F9A692BD9F}"/>
                </a:ext>
              </a:extLst>
            </p:cNvPr>
            <p:cNvSpPr/>
            <p:nvPr/>
          </p:nvSpPr>
          <p:spPr>
            <a:xfrm>
              <a:off x="1970808" y="2364005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A78B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7FF4ACA0-F4D8-5F0F-6E92-4E10C4C5261D}"/>
              </a:ext>
            </a:extLst>
          </p:cNvPr>
          <p:cNvGrpSpPr/>
          <p:nvPr/>
        </p:nvGrpSpPr>
        <p:grpSpPr>
          <a:xfrm>
            <a:off x="3442817" y="1750649"/>
            <a:ext cx="285750" cy="124546"/>
            <a:chOff x="3643169" y="1603140"/>
            <a:chExt cx="285750" cy="124546"/>
          </a:xfrm>
        </p:grpSpPr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E8C0863B-83FF-8A7A-072A-CBE87CECA1C5}"/>
                </a:ext>
              </a:extLst>
            </p:cNvPr>
            <p:cNvSpPr/>
            <p:nvPr/>
          </p:nvSpPr>
          <p:spPr>
            <a:xfrm>
              <a:off x="3643169" y="1667003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34D3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E7B776E3-3F28-C373-30CB-D3583FDE3B6A}"/>
                </a:ext>
              </a:extLst>
            </p:cNvPr>
            <p:cNvSpPr/>
            <p:nvPr/>
          </p:nvSpPr>
          <p:spPr>
            <a:xfrm>
              <a:off x="3723771" y="1603140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34D3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8FAFBCC7-14A4-A9DC-7613-8120C286F6A4}"/>
              </a:ext>
            </a:extLst>
          </p:cNvPr>
          <p:cNvGrpSpPr/>
          <p:nvPr/>
        </p:nvGrpSpPr>
        <p:grpSpPr>
          <a:xfrm>
            <a:off x="3442817" y="2149833"/>
            <a:ext cx="285750" cy="124546"/>
            <a:chOff x="3679369" y="1937300"/>
            <a:chExt cx="285750" cy="124546"/>
          </a:xfrm>
        </p:grpSpPr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03CB4665-86E2-66EE-73AC-049CD5F68A27}"/>
                </a:ext>
              </a:extLst>
            </p:cNvPr>
            <p:cNvSpPr/>
            <p:nvPr/>
          </p:nvSpPr>
          <p:spPr>
            <a:xfrm>
              <a:off x="3679369" y="2001163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F8717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フリーフォーム: 図形 104">
              <a:extLst>
                <a:ext uri="{FF2B5EF4-FFF2-40B4-BE49-F238E27FC236}">
                  <a16:creationId xmlns:a16="http://schemas.microsoft.com/office/drawing/2014/main" id="{AB625CE7-3478-C918-DB89-1C239351EECC}"/>
                </a:ext>
              </a:extLst>
            </p:cNvPr>
            <p:cNvSpPr/>
            <p:nvPr/>
          </p:nvSpPr>
          <p:spPr>
            <a:xfrm>
              <a:off x="3759971" y="1937300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F871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89D6F8C8-E109-8147-C412-38B86A7061E2}"/>
              </a:ext>
            </a:extLst>
          </p:cNvPr>
          <p:cNvGrpSpPr/>
          <p:nvPr/>
        </p:nvGrpSpPr>
        <p:grpSpPr>
          <a:xfrm>
            <a:off x="3442817" y="2549017"/>
            <a:ext cx="285750" cy="124546"/>
            <a:chOff x="3701354" y="2318717"/>
            <a:chExt cx="285750" cy="124546"/>
          </a:xfrm>
        </p:grpSpPr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1CCA32AA-828A-7E5C-8BC9-4DD2511775BF}"/>
                </a:ext>
              </a:extLst>
            </p:cNvPr>
            <p:cNvSpPr/>
            <p:nvPr/>
          </p:nvSpPr>
          <p:spPr>
            <a:xfrm>
              <a:off x="3701354" y="2382580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7871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C3FACFFC-FAEA-FF72-E6E7-B634E3A9B90E}"/>
                </a:ext>
              </a:extLst>
            </p:cNvPr>
            <p:cNvSpPr/>
            <p:nvPr/>
          </p:nvSpPr>
          <p:spPr>
            <a:xfrm>
              <a:off x="3781956" y="2318717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7871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BF1F9201-71E4-B845-8B1A-04C7B270DA63}"/>
              </a:ext>
            </a:extLst>
          </p:cNvPr>
          <p:cNvSpPr txBox="1"/>
          <p:nvPr/>
        </p:nvSpPr>
        <p:spPr>
          <a:xfrm rot="16200000">
            <a:off x="-851049" y="3090874"/>
            <a:ext cx="3736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of Studies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B07AA8A6-67EA-2B99-BFF0-CDFF0E1CE30F}"/>
              </a:ext>
            </a:extLst>
          </p:cNvPr>
          <p:cNvSpPr txBox="1"/>
          <p:nvPr/>
        </p:nvSpPr>
        <p:spPr>
          <a:xfrm>
            <a:off x="2186003" y="1647071"/>
            <a:ext cx="881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Linear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7D76BFC-13D9-3653-0CCB-F65DA12DCF3A}"/>
              </a:ext>
            </a:extLst>
          </p:cNvPr>
          <p:cNvSpPr txBox="1"/>
          <p:nvPr/>
        </p:nvSpPr>
        <p:spPr>
          <a:xfrm>
            <a:off x="2186003" y="2032341"/>
            <a:ext cx="1093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Gaussian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F42AB321-89C2-6A9A-1945-B276921E932B}"/>
              </a:ext>
            </a:extLst>
          </p:cNvPr>
          <p:cNvSpPr txBox="1"/>
          <p:nvPr/>
        </p:nvSpPr>
        <p:spPr>
          <a:xfrm>
            <a:off x="2186003" y="2444785"/>
            <a:ext cx="1050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GAMLSS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92599903-844B-288F-F6EC-3A042EF3CBB0}"/>
              </a:ext>
            </a:extLst>
          </p:cNvPr>
          <p:cNvSpPr txBox="1"/>
          <p:nvPr/>
        </p:nvSpPr>
        <p:spPr>
          <a:xfrm>
            <a:off x="3727290" y="1647071"/>
            <a:ext cx="1157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HierBayes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554FEE08-D0D0-9618-E7B7-C3EA714C73F6}"/>
              </a:ext>
            </a:extLst>
          </p:cNvPr>
          <p:cNvSpPr txBox="1"/>
          <p:nvPr/>
        </p:nvSpPr>
        <p:spPr>
          <a:xfrm>
            <a:off x="3727290" y="2045928"/>
            <a:ext cx="12247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DeepGen</a:t>
            </a: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652AF6D3-A2AF-8792-3636-ADC531812947}"/>
              </a:ext>
            </a:extLst>
          </p:cNvPr>
          <p:cNvSpPr txBox="1"/>
          <p:nvPr/>
        </p:nvSpPr>
        <p:spPr>
          <a:xfrm>
            <a:off x="3727290" y="2444785"/>
            <a:ext cx="1051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A6D24F-89AD-CA62-8053-0942D04C40D0}"/>
              </a:ext>
            </a:extLst>
          </p:cNvPr>
          <p:cNvSpPr txBox="1"/>
          <p:nvPr/>
        </p:nvSpPr>
        <p:spPr>
          <a:xfrm>
            <a:off x="1674258" y="577852"/>
            <a:ext cx="9209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2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Temporal trends in </a:t>
            </a:r>
            <a:r>
              <a:rPr lang="en-US" altLang="ja-JP" sz="2200" b="1" dirty="0">
                <a:solidFill>
                  <a:srgbClr val="3F51B5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modeling methods </a:t>
            </a:r>
            <a:r>
              <a:rPr lang="en-US" altLang="ja-JP" sz="22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for NM studies (2018-2024)</a:t>
            </a:r>
            <a:endParaRPr lang="ja-JP" altLang="en-US" sz="22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E2F8C2-B3AE-94B2-0D30-9F6A6062AE60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26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9E152-9F8E-AFFD-DDEA-33EE32DA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4E9A015-958D-E134-4D11-7FC9439B9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176895"/>
              </p:ext>
            </p:extLst>
          </p:nvPr>
        </p:nvGraphicFramePr>
        <p:xfrm>
          <a:off x="309622" y="508048"/>
          <a:ext cx="11572756" cy="5157747"/>
        </p:xfrm>
        <a:graphic>
          <a:graphicData uri="http://schemas.openxmlformats.org/drawingml/2006/table">
            <a:tbl>
              <a:tblPr/>
              <a:tblGrid>
                <a:gridCol w="1024672">
                  <a:extLst>
                    <a:ext uri="{9D8B030D-6E8A-4147-A177-3AD203B41FA5}">
                      <a16:colId xmlns:a16="http://schemas.microsoft.com/office/drawing/2014/main" val="1902431521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1493546969"/>
                    </a:ext>
                  </a:extLst>
                </a:gridCol>
                <a:gridCol w="1803919">
                  <a:extLst>
                    <a:ext uri="{9D8B030D-6E8A-4147-A177-3AD203B41FA5}">
                      <a16:colId xmlns:a16="http://schemas.microsoft.com/office/drawing/2014/main" val="2322444102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2406210302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3261974605"/>
                    </a:ext>
                  </a:extLst>
                </a:gridCol>
                <a:gridCol w="769716">
                  <a:extLst>
                    <a:ext uri="{9D8B030D-6E8A-4147-A177-3AD203B41FA5}">
                      <a16:colId xmlns:a16="http://schemas.microsoft.com/office/drawing/2014/main" val="2500737889"/>
                    </a:ext>
                  </a:extLst>
                </a:gridCol>
                <a:gridCol w="1660968">
                  <a:extLst>
                    <a:ext uri="{9D8B030D-6E8A-4147-A177-3AD203B41FA5}">
                      <a16:colId xmlns:a16="http://schemas.microsoft.com/office/drawing/2014/main" val="3137307942"/>
                    </a:ext>
                  </a:extLst>
                </a:gridCol>
                <a:gridCol w="2373775">
                  <a:extLst>
                    <a:ext uri="{9D8B030D-6E8A-4147-A177-3AD203B41FA5}">
                      <a16:colId xmlns:a16="http://schemas.microsoft.com/office/drawing/2014/main" val="1931807894"/>
                    </a:ext>
                  </a:extLst>
                </a:gridCol>
              </a:tblGrid>
              <a:tr h="416840">
                <a:tc gridSpan="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Table 1. Characteristics of included studies (representative examples: n=5 of 124)</a:t>
                      </a:r>
                      <a:endParaRPr lang="en-US" sz="1500" b="0" i="0" u="none" strike="noStrike" dirty="0">
                        <a:solidFill>
                          <a:srgbClr val="1F2937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164280"/>
                  </a:ext>
                </a:extLst>
              </a:tr>
              <a:tr h="631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Reference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source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Response variable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Exploratory variables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Modeling methods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Model build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Reference Cohort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Clinical Cohort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844681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Baldwin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thickness, surface area,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subcortical volume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Age,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PBSI (site effects: harmonized before modeling)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ENIGMA CHR-P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(HC n=1,243; 22.32±4.96y)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ENIGMA CHR-P (Clinical high risk for psychosis n=1,579)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36725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Bayer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Age/s(age),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HierBayes (site effects: included)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 (HC n=569; 17.17±8.12y)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 (ASD n=482)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42581"/>
                  </a:ext>
                </a:extLst>
              </a:tr>
              <a:tr h="9731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Bedford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2025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raw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processed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thickness, surface area, cortical volume, global brain volumes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GAMLSS (site effects: harmonized before modeling)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Pre-existing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Brain Charts (Bethlehem 2022;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HC n=101,457; 41.44±8.54y)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I/II; ADHD 200; HBN; NDA; POND; UCSD; AIMS-UK (ADHD n=987, ASD=1,339)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6930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Bethlehem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2020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raw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processed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LOESS (site effects: No)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 (HC n=870; 15.72±8.37y)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 (ASD n=870)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433335"/>
                  </a:ext>
                </a:extLst>
              </a:tr>
              <a:tr h="1225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Bethlehem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thickness; surface area; cortical volume, global brain volumes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GAMLSS (site effects: included)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Aggregated dataset across &gt;100 studies (HC n=101,457; 41.44±8.54y)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Aggregated dataset across &gt;100 studies (ADHD n=1,214, AD n=987, Anxiety/Phobia n=1,628, ASD n=2,009, BD n=208, LMCI n=557, MCI n=450, MDD n=5,250, SCZ n=1,033)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078334"/>
                  </a:ext>
                </a:extLst>
              </a:tr>
            </a:tbl>
          </a:graphicData>
        </a:graphic>
      </p:graphicFrame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00C4A02-7435-0338-5984-8294A5112417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2E88C-BF79-5466-36EE-468D5420219E}"/>
              </a:ext>
            </a:extLst>
          </p:cNvPr>
          <p:cNvSpPr txBox="1"/>
          <p:nvPr/>
        </p:nvSpPr>
        <p:spPr>
          <a:xfrm>
            <a:off x="655735" y="6073974"/>
            <a:ext cx="10880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方法論的多様性（モダリティ、統計手法、サイト効果処理）と臨床応用を体系的に整理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B2F4BE-E76A-7750-B8E6-8CF6DC0C6DEE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0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01A5F-688C-BCF6-D3CA-7CB284CB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フリーフォーム: 図形 773">
            <a:extLst>
              <a:ext uri="{FF2B5EF4-FFF2-40B4-BE49-F238E27FC236}">
                <a16:creationId xmlns:a16="http://schemas.microsoft.com/office/drawing/2014/main" id="{8566E619-8E29-AA1F-F03A-EA5E83142349}"/>
              </a:ext>
            </a:extLst>
          </p:cNvPr>
          <p:cNvSpPr/>
          <p:nvPr/>
        </p:nvSpPr>
        <p:spPr>
          <a:xfrm>
            <a:off x="3988091" y="4508069"/>
            <a:ext cx="653640" cy="461665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5" name="フリーフォーム: 図形 774">
            <a:extLst>
              <a:ext uri="{FF2B5EF4-FFF2-40B4-BE49-F238E27FC236}">
                <a16:creationId xmlns:a16="http://schemas.microsoft.com/office/drawing/2014/main" id="{A19C0DD4-D14E-A288-866C-FF7D85008F7C}"/>
              </a:ext>
            </a:extLst>
          </p:cNvPr>
          <p:cNvSpPr/>
          <p:nvPr/>
        </p:nvSpPr>
        <p:spPr>
          <a:xfrm>
            <a:off x="3988091" y="5028984"/>
            <a:ext cx="653640" cy="1101330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4" name="フリーフォーム: 図形 753">
            <a:extLst>
              <a:ext uri="{FF2B5EF4-FFF2-40B4-BE49-F238E27FC236}">
                <a16:creationId xmlns:a16="http://schemas.microsoft.com/office/drawing/2014/main" id="{6EBE7506-99B2-8B46-ECA0-DF7F310E61D0}"/>
              </a:ext>
            </a:extLst>
          </p:cNvPr>
          <p:cNvSpPr/>
          <p:nvPr/>
        </p:nvSpPr>
        <p:spPr>
          <a:xfrm>
            <a:off x="3988091" y="2824915"/>
            <a:ext cx="653640" cy="882997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4" name="フリーフォーム: 図形 463">
            <a:extLst>
              <a:ext uri="{FF2B5EF4-FFF2-40B4-BE49-F238E27FC236}">
                <a16:creationId xmlns:a16="http://schemas.microsoft.com/office/drawing/2014/main" id="{4B773865-2583-1204-073C-52AF4FDDDAB7}"/>
              </a:ext>
            </a:extLst>
          </p:cNvPr>
          <p:cNvSpPr/>
          <p:nvPr/>
        </p:nvSpPr>
        <p:spPr>
          <a:xfrm>
            <a:off x="3988091" y="381643"/>
            <a:ext cx="653640" cy="1062602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5" name="フリーフォーム: 図形 464">
            <a:extLst>
              <a:ext uri="{FF2B5EF4-FFF2-40B4-BE49-F238E27FC236}">
                <a16:creationId xmlns:a16="http://schemas.microsoft.com/office/drawing/2014/main" id="{D27A09F0-F661-CEB8-1E66-9661335E7E0B}"/>
              </a:ext>
            </a:extLst>
          </p:cNvPr>
          <p:cNvSpPr/>
          <p:nvPr/>
        </p:nvSpPr>
        <p:spPr>
          <a:xfrm>
            <a:off x="3988091" y="1499403"/>
            <a:ext cx="653640" cy="1275165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717820-62FE-CF03-3234-9276618563F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D28B127-958E-A2A8-5EB0-C5C44FA4D592}"/>
              </a:ext>
            </a:extLst>
          </p:cNvPr>
          <p:cNvSpPr txBox="1"/>
          <p:nvPr/>
        </p:nvSpPr>
        <p:spPr>
          <a:xfrm>
            <a:off x="2638094" y="6308552"/>
            <a:ext cx="6915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124</a:t>
            </a:r>
            <a:r>
              <a:rPr lang="ja-JP" altLang="en-US" sz="2000" dirty="0">
                <a:solidFill>
                  <a:srgbClr val="374151"/>
                </a:solidFill>
              </a:rPr>
              <a:t>研究の方法論的特性と臨床応用の分布</a:t>
            </a:r>
          </a:p>
        </p:txBody>
      </p:sp>
      <p:sp>
        <p:nvSpPr>
          <p:cNvPr id="419" name="フリーフォーム: 図形 418">
            <a:extLst>
              <a:ext uri="{FF2B5EF4-FFF2-40B4-BE49-F238E27FC236}">
                <a16:creationId xmlns:a16="http://schemas.microsoft.com/office/drawing/2014/main" id="{EA25A156-A6B7-4CA4-E679-DD2FE2552ECF}"/>
              </a:ext>
            </a:extLst>
          </p:cNvPr>
          <p:cNvSpPr/>
          <p:nvPr/>
        </p:nvSpPr>
        <p:spPr>
          <a:xfrm>
            <a:off x="1444671" y="774195"/>
            <a:ext cx="2513193" cy="3165869"/>
          </a:xfrm>
          <a:custGeom>
            <a:avLst/>
            <a:gdLst>
              <a:gd name="connsiteX0" fmla="*/ 0 w 2513193"/>
              <a:gd name="connsiteY0" fmla="*/ 3165870 h 3165869"/>
              <a:gd name="connsiteX1" fmla="*/ 2513193 w 2513193"/>
              <a:gd name="connsiteY1" fmla="*/ 692246 h 3165869"/>
              <a:gd name="connsiteX2" fmla="*/ 2513193 w 2513193"/>
              <a:gd name="connsiteY2" fmla="*/ 0 h 3165869"/>
              <a:gd name="connsiteX3" fmla="*/ 0 w 2513193"/>
              <a:gd name="connsiteY3" fmla="*/ 2473624 h 3165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165869">
                <a:moveTo>
                  <a:pt x="0" y="3165870"/>
                </a:moveTo>
                <a:cubicBezTo>
                  <a:pt x="1130937" y="3165870"/>
                  <a:pt x="1382256" y="692246"/>
                  <a:pt x="2513193" y="692246"/>
                </a:cubicBezTo>
                <a:lnTo>
                  <a:pt x="2513193" y="0"/>
                </a:lnTo>
                <a:cubicBezTo>
                  <a:pt x="1382256" y="0"/>
                  <a:pt x="1130937" y="2473624"/>
                  <a:pt x="0" y="2473624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0" name="フリーフォーム: 図形 419">
            <a:extLst>
              <a:ext uri="{FF2B5EF4-FFF2-40B4-BE49-F238E27FC236}">
                <a16:creationId xmlns:a16="http://schemas.microsoft.com/office/drawing/2014/main" id="{67076882-4D0F-882C-DD1C-873D210F7676}"/>
              </a:ext>
            </a:extLst>
          </p:cNvPr>
          <p:cNvSpPr/>
          <p:nvPr/>
        </p:nvSpPr>
        <p:spPr>
          <a:xfrm>
            <a:off x="1444671" y="1824008"/>
            <a:ext cx="2513193" cy="1423810"/>
          </a:xfrm>
          <a:custGeom>
            <a:avLst/>
            <a:gdLst>
              <a:gd name="connsiteX0" fmla="*/ 0 w 2513193"/>
              <a:gd name="connsiteY0" fmla="*/ 1423811 h 1423810"/>
              <a:gd name="connsiteX1" fmla="*/ 2513193 w 2513193"/>
              <a:gd name="connsiteY1" fmla="*/ 969144 h 1423810"/>
              <a:gd name="connsiteX2" fmla="*/ 2513193 w 2513193"/>
              <a:gd name="connsiteY2" fmla="*/ 0 h 1423810"/>
              <a:gd name="connsiteX3" fmla="*/ 0 w 2513193"/>
              <a:gd name="connsiteY3" fmla="*/ 454667 h 142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423810">
                <a:moveTo>
                  <a:pt x="0" y="1423811"/>
                </a:moveTo>
                <a:cubicBezTo>
                  <a:pt x="1130937" y="1423811"/>
                  <a:pt x="1382256" y="969144"/>
                  <a:pt x="2513193" y="969144"/>
                </a:cubicBezTo>
                <a:lnTo>
                  <a:pt x="2513193" y="0"/>
                </a:lnTo>
                <a:cubicBezTo>
                  <a:pt x="1382256" y="0"/>
                  <a:pt x="1130937" y="454667"/>
                  <a:pt x="0" y="454667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1" name="フリーフォーム: 図形 420">
            <a:extLst>
              <a:ext uri="{FF2B5EF4-FFF2-40B4-BE49-F238E27FC236}">
                <a16:creationId xmlns:a16="http://schemas.microsoft.com/office/drawing/2014/main" id="{BB1A3669-C18E-7571-5AEA-892156D3DD12}"/>
              </a:ext>
            </a:extLst>
          </p:cNvPr>
          <p:cNvSpPr/>
          <p:nvPr/>
        </p:nvSpPr>
        <p:spPr>
          <a:xfrm>
            <a:off x="1444671" y="1632579"/>
            <a:ext cx="2513193" cy="2096858"/>
          </a:xfrm>
          <a:custGeom>
            <a:avLst/>
            <a:gdLst>
              <a:gd name="connsiteX0" fmla="*/ 0 w 2513193"/>
              <a:gd name="connsiteY0" fmla="*/ 646096 h 2096858"/>
              <a:gd name="connsiteX1" fmla="*/ 2513193 w 2513193"/>
              <a:gd name="connsiteY1" fmla="*/ 2096858 h 2096858"/>
              <a:gd name="connsiteX2" fmla="*/ 2513193 w 2513193"/>
              <a:gd name="connsiteY2" fmla="*/ 1450762 h 2096858"/>
              <a:gd name="connsiteX3" fmla="*/ 0 w 2513193"/>
              <a:gd name="connsiteY3" fmla="*/ 0 h 2096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096858">
                <a:moveTo>
                  <a:pt x="0" y="646096"/>
                </a:moveTo>
                <a:cubicBezTo>
                  <a:pt x="1130937" y="646096"/>
                  <a:pt x="1382256" y="2096858"/>
                  <a:pt x="2513193" y="2096858"/>
                </a:cubicBezTo>
                <a:lnTo>
                  <a:pt x="2513193" y="1450762"/>
                </a:lnTo>
                <a:cubicBezTo>
                  <a:pt x="1382256" y="1450762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2" name="フリーフォーム: 図形 421">
            <a:extLst>
              <a:ext uri="{FF2B5EF4-FFF2-40B4-BE49-F238E27FC236}">
                <a16:creationId xmlns:a16="http://schemas.microsoft.com/office/drawing/2014/main" id="{F349FC2D-21CA-B58D-155E-C0C2C7FE7D2F}"/>
              </a:ext>
            </a:extLst>
          </p:cNvPr>
          <p:cNvSpPr/>
          <p:nvPr/>
        </p:nvSpPr>
        <p:spPr>
          <a:xfrm>
            <a:off x="1444671" y="1124933"/>
            <a:ext cx="2513193" cy="3323886"/>
          </a:xfrm>
          <a:custGeom>
            <a:avLst/>
            <a:gdLst>
              <a:gd name="connsiteX0" fmla="*/ 0 w 2513193"/>
              <a:gd name="connsiteY0" fmla="*/ 507647 h 3323886"/>
              <a:gd name="connsiteX1" fmla="*/ 2513193 w 2513193"/>
              <a:gd name="connsiteY1" fmla="*/ 3323886 h 3323886"/>
              <a:gd name="connsiteX2" fmla="*/ 2513193 w 2513193"/>
              <a:gd name="connsiteY2" fmla="*/ 2816240 h 3323886"/>
              <a:gd name="connsiteX3" fmla="*/ 0 w 2513193"/>
              <a:gd name="connsiteY3" fmla="*/ 0 h 332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323886">
                <a:moveTo>
                  <a:pt x="0" y="507647"/>
                </a:moveTo>
                <a:cubicBezTo>
                  <a:pt x="1130937" y="507647"/>
                  <a:pt x="1382256" y="3323886"/>
                  <a:pt x="2513193" y="3323886"/>
                </a:cubicBezTo>
                <a:lnTo>
                  <a:pt x="2513193" y="2816240"/>
                </a:lnTo>
                <a:cubicBezTo>
                  <a:pt x="1382256" y="2816240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3" name="フリーフォーム: 図形 422">
            <a:extLst>
              <a:ext uri="{FF2B5EF4-FFF2-40B4-BE49-F238E27FC236}">
                <a16:creationId xmlns:a16="http://schemas.microsoft.com/office/drawing/2014/main" id="{6FB35A80-BFCF-E852-CE14-108D36ADFD08}"/>
              </a:ext>
            </a:extLst>
          </p:cNvPr>
          <p:cNvSpPr/>
          <p:nvPr/>
        </p:nvSpPr>
        <p:spPr>
          <a:xfrm>
            <a:off x="1444671" y="894184"/>
            <a:ext cx="2513193" cy="4100493"/>
          </a:xfrm>
          <a:custGeom>
            <a:avLst/>
            <a:gdLst>
              <a:gd name="connsiteX0" fmla="*/ 0 w 2513193"/>
              <a:gd name="connsiteY0" fmla="*/ 230749 h 4100493"/>
              <a:gd name="connsiteX1" fmla="*/ 2513193 w 2513193"/>
              <a:gd name="connsiteY1" fmla="*/ 4100493 h 4100493"/>
              <a:gd name="connsiteX2" fmla="*/ 2513193 w 2513193"/>
              <a:gd name="connsiteY2" fmla="*/ 3869745 h 4100493"/>
              <a:gd name="connsiteX3" fmla="*/ 0 w 2513193"/>
              <a:gd name="connsiteY3" fmla="*/ 0 h 41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100493">
                <a:moveTo>
                  <a:pt x="0" y="230749"/>
                </a:moveTo>
                <a:cubicBezTo>
                  <a:pt x="1130937" y="230749"/>
                  <a:pt x="1382256" y="4100493"/>
                  <a:pt x="2513193" y="4100493"/>
                </a:cubicBezTo>
                <a:lnTo>
                  <a:pt x="2513193" y="3869745"/>
                </a:lnTo>
                <a:cubicBezTo>
                  <a:pt x="1382256" y="3869745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4" name="フリーフォーム: 図形 423">
            <a:extLst>
              <a:ext uri="{FF2B5EF4-FFF2-40B4-BE49-F238E27FC236}">
                <a16:creationId xmlns:a16="http://schemas.microsoft.com/office/drawing/2014/main" id="{FB427F16-D1A3-25C1-B4EE-40899825AA21}"/>
              </a:ext>
            </a:extLst>
          </p:cNvPr>
          <p:cNvSpPr/>
          <p:nvPr/>
        </p:nvSpPr>
        <p:spPr>
          <a:xfrm>
            <a:off x="1444671" y="372190"/>
            <a:ext cx="2513193" cy="5762605"/>
          </a:xfrm>
          <a:custGeom>
            <a:avLst/>
            <a:gdLst>
              <a:gd name="connsiteX0" fmla="*/ 0 w 2513193"/>
              <a:gd name="connsiteY0" fmla="*/ 646096 h 5899777"/>
              <a:gd name="connsiteX1" fmla="*/ 2513193 w 2513193"/>
              <a:gd name="connsiteY1" fmla="*/ 5899778 h 5899777"/>
              <a:gd name="connsiteX2" fmla="*/ 2513193 w 2513193"/>
              <a:gd name="connsiteY2" fmla="*/ 5253682 h 5899777"/>
              <a:gd name="connsiteX3" fmla="*/ 0 w 2513193"/>
              <a:gd name="connsiteY3" fmla="*/ 0 h 589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899777">
                <a:moveTo>
                  <a:pt x="0" y="646096"/>
                </a:moveTo>
                <a:cubicBezTo>
                  <a:pt x="1130937" y="646096"/>
                  <a:pt x="1382256" y="5899778"/>
                  <a:pt x="2513193" y="5899778"/>
                </a:cubicBezTo>
                <a:lnTo>
                  <a:pt x="2513193" y="5253682"/>
                </a:lnTo>
                <a:cubicBezTo>
                  <a:pt x="1382256" y="5253682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5" name="フリーフォーム: 図形 424">
            <a:extLst>
              <a:ext uri="{FF2B5EF4-FFF2-40B4-BE49-F238E27FC236}">
                <a16:creationId xmlns:a16="http://schemas.microsoft.com/office/drawing/2014/main" id="{B4EC76C9-7D5C-63A2-8B00-6C4A03E4A1FB}"/>
              </a:ext>
            </a:extLst>
          </p:cNvPr>
          <p:cNvSpPr/>
          <p:nvPr/>
        </p:nvSpPr>
        <p:spPr>
          <a:xfrm>
            <a:off x="1444671" y="681896"/>
            <a:ext cx="2513193" cy="4249464"/>
          </a:xfrm>
          <a:custGeom>
            <a:avLst/>
            <a:gdLst>
              <a:gd name="connsiteX0" fmla="*/ 0 w 2513193"/>
              <a:gd name="connsiteY0" fmla="*/ 4249465 h 4249464"/>
              <a:gd name="connsiteX1" fmla="*/ 2513193 w 2513193"/>
              <a:gd name="connsiteY1" fmla="*/ 92299 h 4249464"/>
              <a:gd name="connsiteX2" fmla="*/ 2513193 w 2513193"/>
              <a:gd name="connsiteY2" fmla="*/ 0 h 4249464"/>
              <a:gd name="connsiteX3" fmla="*/ 0 w 2513193"/>
              <a:gd name="connsiteY3" fmla="*/ 4157165 h 424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249464">
                <a:moveTo>
                  <a:pt x="0" y="4249465"/>
                </a:moveTo>
                <a:cubicBezTo>
                  <a:pt x="1130937" y="4249465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157165"/>
                  <a:pt x="0" y="4157165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6" name="フリーフォーム: 図形 425">
            <a:extLst>
              <a:ext uri="{FF2B5EF4-FFF2-40B4-BE49-F238E27FC236}">
                <a16:creationId xmlns:a16="http://schemas.microsoft.com/office/drawing/2014/main" id="{A617C41F-0779-213D-4664-966F80343C74}"/>
              </a:ext>
            </a:extLst>
          </p:cNvPr>
          <p:cNvSpPr/>
          <p:nvPr/>
        </p:nvSpPr>
        <p:spPr>
          <a:xfrm>
            <a:off x="1444671" y="1547110"/>
            <a:ext cx="2513193" cy="3291950"/>
          </a:xfrm>
          <a:custGeom>
            <a:avLst/>
            <a:gdLst>
              <a:gd name="connsiteX0" fmla="*/ 0 w 2513193"/>
              <a:gd name="connsiteY0" fmla="*/ 3291951 h 3291950"/>
              <a:gd name="connsiteX1" fmla="*/ 2513193 w 2513193"/>
              <a:gd name="connsiteY1" fmla="*/ 276898 h 3291950"/>
              <a:gd name="connsiteX2" fmla="*/ 2513193 w 2513193"/>
              <a:gd name="connsiteY2" fmla="*/ 0 h 3291950"/>
              <a:gd name="connsiteX3" fmla="*/ 0 w 2513193"/>
              <a:gd name="connsiteY3" fmla="*/ 3015053 h 329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291950">
                <a:moveTo>
                  <a:pt x="0" y="3291951"/>
                </a:moveTo>
                <a:cubicBezTo>
                  <a:pt x="1130937" y="3291951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3015053"/>
                  <a:pt x="0" y="3015053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7" name="フリーフォーム: 図形 426">
            <a:extLst>
              <a:ext uri="{FF2B5EF4-FFF2-40B4-BE49-F238E27FC236}">
                <a16:creationId xmlns:a16="http://schemas.microsoft.com/office/drawing/2014/main" id="{FBCC40BE-2ABF-A12C-4A08-310BB8848C7E}"/>
              </a:ext>
            </a:extLst>
          </p:cNvPr>
          <p:cNvSpPr/>
          <p:nvPr/>
        </p:nvSpPr>
        <p:spPr>
          <a:xfrm>
            <a:off x="1444671" y="2944892"/>
            <a:ext cx="2513193" cy="1617270"/>
          </a:xfrm>
          <a:custGeom>
            <a:avLst/>
            <a:gdLst>
              <a:gd name="connsiteX0" fmla="*/ 0 w 2513193"/>
              <a:gd name="connsiteY0" fmla="*/ 1617270 h 1617270"/>
              <a:gd name="connsiteX1" fmla="*/ 2513193 w 2513193"/>
              <a:gd name="connsiteY1" fmla="*/ 138449 h 1617270"/>
              <a:gd name="connsiteX2" fmla="*/ 2513193 w 2513193"/>
              <a:gd name="connsiteY2" fmla="*/ 0 h 1617270"/>
              <a:gd name="connsiteX3" fmla="*/ 0 w 2513193"/>
              <a:gd name="connsiteY3" fmla="*/ 1478821 h 161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617270">
                <a:moveTo>
                  <a:pt x="0" y="1617270"/>
                </a:moveTo>
                <a:cubicBezTo>
                  <a:pt x="1130937" y="1617270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1478821"/>
                  <a:pt x="0" y="1478821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8" name="フリーフォーム: 図形 427">
            <a:extLst>
              <a:ext uri="{FF2B5EF4-FFF2-40B4-BE49-F238E27FC236}">
                <a16:creationId xmlns:a16="http://schemas.microsoft.com/office/drawing/2014/main" id="{9D6E75BA-4DA2-CEB6-D8AC-AC235A0B84C5}"/>
              </a:ext>
            </a:extLst>
          </p:cNvPr>
          <p:cNvSpPr/>
          <p:nvPr/>
        </p:nvSpPr>
        <p:spPr>
          <a:xfrm>
            <a:off x="1444671" y="3802723"/>
            <a:ext cx="2513193" cy="620990"/>
          </a:xfrm>
          <a:custGeom>
            <a:avLst/>
            <a:gdLst>
              <a:gd name="connsiteX0" fmla="*/ 0 w 2513193"/>
              <a:gd name="connsiteY0" fmla="*/ 620991 h 620990"/>
              <a:gd name="connsiteX1" fmla="*/ 2513193 w 2513193"/>
              <a:gd name="connsiteY1" fmla="*/ 138449 h 620990"/>
              <a:gd name="connsiteX2" fmla="*/ 2513193 w 2513193"/>
              <a:gd name="connsiteY2" fmla="*/ 0 h 620990"/>
              <a:gd name="connsiteX3" fmla="*/ 0 w 2513193"/>
              <a:gd name="connsiteY3" fmla="*/ 482541 h 62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620990">
                <a:moveTo>
                  <a:pt x="0" y="620991"/>
                </a:moveTo>
                <a:cubicBezTo>
                  <a:pt x="1130937" y="620991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482541"/>
                  <a:pt x="0" y="482541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9" name="フリーフォーム: 図形 428">
            <a:extLst>
              <a:ext uri="{FF2B5EF4-FFF2-40B4-BE49-F238E27FC236}">
                <a16:creationId xmlns:a16="http://schemas.microsoft.com/office/drawing/2014/main" id="{F2255E24-627A-6EDD-52B4-0859D5A00E87}"/>
              </a:ext>
            </a:extLst>
          </p:cNvPr>
          <p:cNvSpPr/>
          <p:nvPr/>
        </p:nvSpPr>
        <p:spPr>
          <a:xfrm>
            <a:off x="1444671" y="4239115"/>
            <a:ext cx="2513193" cy="524814"/>
          </a:xfrm>
          <a:custGeom>
            <a:avLst/>
            <a:gdLst>
              <a:gd name="connsiteX0" fmla="*/ 0 w 2513193"/>
              <a:gd name="connsiteY0" fmla="*/ 46149 h 524814"/>
              <a:gd name="connsiteX1" fmla="*/ 2513193 w 2513193"/>
              <a:gd name="connsiteY1" fmla="*/ 524814 h 524814"/>
              <a:gd name="connsiteX2" fmla="*/ 2513193 w 2513193"/>
              <a:gd name="connsiteY2" fmla="*/ 478665 h 524814"/>
              <a:gd name="connsiteX3" fmla="*/ 0 w 2513193"/>
              <a:gd name="connsiteY3" fmla="*/ 0 h 52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24814">
                <a:moveTo>
                  <a:pt x="0" y="46149"/>
                </a:moveTo>
                <a:cubicBezTo>
                  <a:pt x="1130937" y="46149"/>
                  <a:pt x="1382256" y="524814"/>
                  <a:pt x="2513193" y="524814"/>
                </a:cubicBezTo>
                <a:lnTo>
                  <a:pt x="2513193" y="478665"/>
                </a:lnTo>
                <a:cubicBezTo>
                  <a:pt x="1382256" y="478665"/>
                  <a:pt x="1130937" y="0"/>
                  <a:pt x="0" y="0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0" name="フリーフォーム: 図形 429">
            <a:extLst>
              <a:ext uri="{FF2B5EF4-FFF2-40B4-BE49-F238E27FC236}">
                <a16:creationId xmlns:a16="http://schemas.microsoft.com/office/drawing/2014/main" id="{1A5DF3EE-3D44-D2D7-8AAA-1293C1BA0240}"/>
              </a:ext>
            </a:extLst>
          </p:cNvPr>
          <p:cNvSpPr/>
          <p:nvPr/>
        </p:nvSpPr>
        <p:spPr>
          <a:xfrm>
            <a:off x="1444671" y="3962217"/>
            <a:ext cx="2513193" cy="1539554"/>
          </a:xfrm>
          <a:custGeom>
            <a:avLst/>
            <a:gdLst>
              <a:gd name="connsiteX0" fmla="*/ 0 w 2513193"/>
              <a:gd name="connsiteY0" fmla="*/ 276898 h 1539554"/>
              <a:gd name="connsiteX1" fmla="*/ 2513193 w 2513193"/>
              <a:gd name="connsiteY1" fmla="*/ 1539554 h 1539554"/>
              <a:gd name="connsiteX2" fmla="*/ 2513193 w 2513193"/>
              <a:gd name="connsiteY2" fmla="*/ 1262656 h 1539554"/>
              <a:gd name="connsiteX3" fmla="*/ 0 w 2513193"/>
              <a:gd name="connsiteY3" fmla="*/ 0 h 153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539554">
                <a:moveTo>
                  <a:pt x="0" y="276898"/>
                </a:moveTo>
                <a:cubicBezTo>
                  <a:pt x="1130937" y="276898"/>
                  <a:pt x="1382256" y="1539554"/>
                  <a:pt x="2513193" y="1539554"/>
                </a:cubicBezTo>
                <a:lnTo>
                  <a:pt x="2513193" y="1262656"/>
                </a:lnTo>
                <a:cubicBezTo>
                  <a:pt x="1382256" y="1262656"/>
                  <a:pt x="1130937" y="0"/>
                  <a:pt x="0" y="0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1" name="フリーフォーム: 図形 430">
            <a:extLst>
              <a:ext uri="{FF2B5EF4-FFF2-40B4-BE49-F238E27FC236}">
                <a16:creationId xmlns:a16="http://schemas.microsoft.com/office/drawing/2014/main" id="{7E4A60FB-3DC9-3EBF-73B6-B4E0C56A63C6}"/>
              </a:ext>
            </a:extLst>
          </p:cNvPr>
          <p:cNvSpPr/>
          <p:nvPr/>
        </p:nvSpPr>
        <p:spPr>
          <a:xfrm>
            <a:off x="1444671" y="635746"/>
            <a:ext cx="2513193" cy="4627892"/>
          </a:xfrm>
          <a:custGeom>
            <a:avLst/>
            <a:gdLst>
              <a:gd name="connsiteX0" fmla="*/ 0 w 2513193"/>
              <a:gd name="connsiteY0" fmla="*/ 4627892 h 4627892"/>
              <a:gd name="connsiteX1" fmla="*/ 2513193 w 2513193"/>
              <a:gd name="connsiteY1" fmla="*/ 46150 h 4627892"/>
              <a:gd name="connsiteX2" fmla="*/ 2513193 w 2513193"/>
              <a:gd name="connsiteY2" fmla="*/ 0 h 4627892"/>
              <a:gd name="connsiteX3" fmla="*/ 0 w 2513193"/>
              <a:gd name="connsiteY3" fmla="*/ 4581743 h 4627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627892">
                <a:moveTo>
                  <a:pt x="0" y="4627892"/>
                </a:moveTo>
                <a:cubicBezTo>
                  <a:pt x="1130937" y="4627892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4581743"/>
                  <a:pt x="0" y="4581743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2" name="フリーフォーム: 図形 431">
            <a:extLst>
              <a:ext uri="{FF2B5EF4-FFF2-40B4-BE49-F238E27FC236}">
                <a16:creationId xmlns:a16="http://schemas.microsoft.com/office/drawing/2014/main" id="{955737A8-24A0-6C4B-CDE1-51EDC0D7F6F7}"/>
              </a:ext>
            </a:extLst>
          </p:cNvPr>
          <p:cNvSpPr/>
          <p:nvPr/>
        </p:nvSpPr>
        <p:spPr>
          <a:xfrm>
            <a:off x="1444671" y="3756573"/>
            <a:ext cx="2513193" cy="1460915"/>
          </a:xfrm>
          <a:custGeom>
            <a:avLst/>
            <a:gdLst>
              <a:gd name="connsiteX0" fmla="*/ 0 w 2513193"/>
              <a:gd name="connsiteY0" fmla="*/ 1460915 h 1460915"/>
              <a:gd name="connsiteX1" fmla="*/ 2513193 w 2513193"/>
              <a:gd name="connsiteY1" fmla="*/ 46149 h 1460915"/>
              <a:gd name="connsiteX2" fmla="*/ 2513193 w 2513193"/>
              <a:gd name="connsiteY2" fmla="*/ 0 h 1460915"/>
              <a:gd name="connsiteX3" fmla="*/ 0 w 2513193"/>
              <a:gd name="connsiteY3" fmla="*/ 1414765 h 146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460915">
                <a:moveTo>
                  <a:pt x="0" y="1460915"/>
                </a:moveTo>
                <a:cubicBezTo>
                  <a:pt x="1130937" y="1460915"/>
                  <a:pt x="1382256" y="46149"/>
                  <a:pt x="2513193" y="46149"/>
                </a:cubicBezTo>
                <a:lnTo>
                  <a:pt x="2513193" y="0"/>
                </a:lnTo>
                <a:cubicBezTo>
                  <a:pt x="1382256" y="0"/>
                  <a:pt x="1130937" y="1414765"/>
                  <a:pt x="0" y="1414765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3" name="フリーフォーム: 図形 432">
            <a:extLst>
              <a:ext uri="{FF2B5EF4-FFF2-40B4-BE49-F238E27FC236}">
                <a16:creationId xmlns:a16="http://schemas.microsoft.com/office/drawing/2014/main" id="{85C12C75-D338-D3A5-802A-89B3CE807968}"/>
              </a:ext>
            </a:extLst>
          </p:cNvPr>
          <p:cNvSpPr/>
          <p:nvPr/>
        </p:nvSpPr>
        <p:spPr>
          <a:xfrm>
            <a:off x="1444671" y="4625480"/>
            <a:ext cx="2513193" cy="545858"/>
          </a:xfrm>
          <a:custGeom>
            <a:avLst/>
            <a:gdLst>
              <a:gd name="connsiteX0" fmla="*/ 0 w 2513193"/>
              <a:gd name="connsiteY0" fmla="*/ 545859 h 545858"/>
              <a:gd name="connsiteX1" fmla="*/ 2513193 w 2513193"/>
              <a:gd name="connsiteY1" fmla="*/ 92299 h 545858"/>
              <a:gd name="connsiteX2" fmla="*/ 2513193 w 2513193"/>
              <a:gd name="connsiteY2" fmla="*/ 0 h 545858"/>
              <a:gd name="connsiteX3" fmla="*/ 0 w 2513193"/>
              <a:gd name="connsiteY3" fmla="*/ 453559 h 54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45858">
                <a:moveTo>
                  <a:pt x="0" y="545859"/>
                </a:moveTo>
                <a:cubicBezTo>
                  <a:pt x="1130937" y="545859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53559"/>
                  <a:pt x="0" y="453559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4" name="フリーフォーム: 図形 433">
            <a:extLst>
              <a:ext uri="{FF2B5EF4-FFF2-40B4-BE49-F238E27FC236}">
                <a16:creationId xmlns:a16="http://schemas.microsoft.com/office/drawing/2014/main" id="{F65CD051-5250-DC7F-382D-673A0244A218}"/>
              </a:ext>
            </a:extLst>
          </p:cNvPr>
          <p:cNvSpPr/>
          <p:nvPr/>
        </p:nvSpPr>
        <p:spPr>
          <a:xfrm>
            <a:off x="1444671" y="4986740"/>
            <a:ext cx="2513193" cy="238132"/>
          </a:xfrm>
          <a:custGeom>
            <a:avLst/>
            <a:gdLst>
              <a:gd name="connsiteX0" fmla="*/ 0 w 2513193"/>
              <a:gd name="connsiteY0" fmla="*/ 92299 h 238132"/>
              <a:gd name="connsiteX1" fmla="*/ 2513193 w 2513193"/>
              <a:gd name="connsiteY1" fmla="*/ 238133 h 238132"/>
              <a:gd name="connsiteX2" fmla="*/ 2513193 w 2513193"/>
              <a:gd name="connsiteY2" fmla="*/ 145833 h 238132"/>
              <a:gd name="connsiteX3" fmla="*/ 0 w 2513193"/>
              <a:gd name="connsiteY3" fmla="*/ 0 h 23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38132">
                <a:moveTo>
                  <a:pt x="0" y="92299"/>
                </a:moveTo>
                <a:cubicBezTo>
                  <a:pt x="1130937" y="92299"/>
                  <a:pt x="1382256" y="238133"/>
                  <a:pt x="2513193" y="238133"/>
                </a:cubicBezTo>
                <a:lnTo>
                  <a:pt x="2513193" y="145833"/>
                </a:lnTo>
                <a:cubicBezTo>
                  <a:pt x="1382256" y="145833"/>
                  <a:pt x="1130937" y="0"/>
                  <a:pt x="0" y="0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5" name="フリーフォーム: 図形 434">
            <a:extLst>
              <a:ext uri="{FF2B5EF4-FFF2-40B4-BE49-F238E27FC236}">
                <a16:creationId xmlns:a16="http://schemas.microsoft.com/office/drawing/2014/main" id="{603C9EEA-7D74-466D-A55F-0C4ECF39151D}"/>
              </a:ext>
            </a:extLst>
          </p:cNvPr>
          <p:cNvSpPr/>
          <p:nvPr/>
        </p:nvSpPr>
        <p:spPr>
          <a:xfrm>
            <a:off x="1444671" y="2852593"/>
            <a:ext cx="2513193" cy="2611519"/>
          </a:xfrm>
          <a:custGeom>
            <a:avLst/>
            <a:gdLst>
              <a:gd name="connsiteX0" fmla="*/ 0 w 2513193"/>
              <a:gd name="connsiteY0" fmla="*/ 2611520 h 2611519"/>
              <a:gd name="connsiteX1" fmla="*/ 2513193 w 2513193"/>
              <a:gd name="connsiteY1" fmla="*/ 92299 h 2611519"/>
              <a:gd name="connsiteX2" fmla="*/ 2513193 w 2513193"/>
              <a:gd name="connsiteY2" fmla="*/ 0 h 2611519"/>
              <a:gd name="connsiteX3" fmla="*/ 0 w 2513193"/>
              <a:gd name="connsiteY3" fmla="*/ 2519220 h 261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611519">
                <a:moveTo>
                  <a:pt x="0" y="2611520"/>
                </a:moveTo>
                <a:cubicBezTo>
                  <a:pt x="1130937" y="2611520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2519220"/>
                  <a:pt x="0" y="2519220"/>
                </a:cubicBezTo>
                <a:close/>
              </a:path>
            </a:pathLst>
          </a:custGeom>
          <a:solidFill>
            <a:srgbClr val="9467BD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6" name="フリーフォーム: 図形 435">
            <a:extLst>
              <a:ext uri="{FF2B5EF4-FFF2-40B4-BE49-F238E27FC236}">
                <a16:creationId xmlns:a16="http://schemas.microsoft.com/office/drawing/2014/main" id="{F8325C5F-33E3-4C5E-1A35-A8C7B365F6D3}"/>
              </a:ext>
            </a:extLst>
          </p:cNvPr>
          <p:cNvSpPr/>
          <p:nvPr/>
        </p:nvSpPr>
        <p:spPr>
          <a:xfrm>
            <a:off x="1444671" y="4579330"/>
            <a:ext cx="2513193" cy="792482"/>
          </a:xfrm>
          <a:custGeom>
            <a:avLst/>
            <a:gdLst>
              <a:gd name="connsiteX0" fmla="*/ 0 w 2513193"/>
              <a:gd name="connsiteY0" fmla="*/ 792483 h 792482"/>
              <a:gd name="connsiteX1" fmla="*/ 2513193 w 2513193"/>
              <a:gd name="connsiteY1" fmla="*/ 46150 h 792482"/>
              <a:gd name="connsiteX2" fmla="*/ 2513193 w 2513193"/>
              <a:gd name="connsiteY2" fmla="*/ 0 h 792482"/>
              <a:gd name="connsiteX3" fmla="*/ 0 w 2513193"/>
              <a:gd name="connsiteY3" fmla="*/ 746333 h 7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792482">
                <a:moveTo>
                  <a:pt x="0" y="792483"/>
                </a:moveTo>
                <a:cubicBezTo>
                  <a:pt x="1130937" y="792483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746333"/>
                  <a:pt x="0" y="746333"/>
                </a:cubicBezTo>
                <a:close/>
              </a:path>
            </a:pathLst>
          </a:custGeom>
          <a:solidFill>
            <a:srgbClr val="9467BD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7" name="フリーフォーム: 図形 436">
            <a:extLst>
              <a:ext uri="{FF2B5EF4-FFF2-40B4-BE49-F238E27FC236}">
                <a16:creationId xmlns:a16="http://schemas.microsoft.com/office/drawing/2014/main" id="{C57BB287-FB5D-6480-D199-439CA24AE25B}"/>
              </a:ext>
            </a:extLst>
          </p:cNvPr>
          <p:cNvSpPr/>
          <p:nvPr/>
        </p:nvSpPr>
        <p:spPr>
          <a:xfrm>
            <a:off x="1444671" y="358848"/>
            <a:ext cx="2513193" cy="5789018"/>
          </a:xfrm>
          <a:custGeom>
            <a:avLst/>
            <a:gdLst>
              <a:gd name="connsiteX0" fmla="*/ 0 w 2513193"/>
              <a:gd name="connsiteY0" fmla="*/ 5789019 h 5789018"/>
              <a:gd name="connsiteX1" fmla="*/ 2513193 w 2513193"/>
              <a:gd name="connsiteY1" fmla="*/ 276898 h 5789018"/>
              <a:gd name="connsiteX2" fmla="*/ 2513193 w 2513193"/>
              <a:gd name="connsiteY2" fmla="*/ 0 h 5789018"/>
              <a:gd name="connsiteX3" fmla="*/ 0 w 2513193"/>
              <a:gd name="connsiteY3" fmla="*/ 5512121 h 578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789018">
                <a:moveTo>
                  <a:pt x="0" y="5789019"/>
                </a:moveTo>
                <a:cubicBezTo>
                  <a:pt x="1130937" y="5789019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5512121"/>
                  <a:pt x="0" y="5512121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8" name="フリーフォーム: 図形 437">
            <a:extLst>
              <a:ext uri="{FF2B5EF4-FFF2-40B4-BE49-F238E27FC236}">
                <a16:creationId xmlns:a16="http://schemas.microsoft.com/office/drawing/2014/main" id="{0B850506-DB67-2A1A-27C4-EDD299E812B9}"/>
              </a:ext>
            </a:extLst>
          </p:cNvPr>
          <p:cNvSpPr/>
          <p:nvPr/>
        </p:nvSpPr>
        <p:spPr>
          <a:xfrm>
            <a:off x="1444671" y="1483035"/>
            <a:ext cx="2513193" cy="4387933"/>
          </a:xfrm>
          <a:custGeom>
            <a:avLst/>
            <a:gdLst>
              <a:gd name="connsiteX0" fmla="*/ 0 w 2513193"/>
              <a:gd name="connsiteY0" fmla="*/ 4416158 h 4416157"/>
              <a:gd name="connsiteX1" fmla="*/ 2513193 w 2513193"/>
              <a:gd name="connsiteY1" fmla="*/ 92299 h 4416157"/>
              <a:gd name="connsiteX2" fmla="*/ 2513193 w 2513193"/>
              <a:gd name="connsiteY2" fmla="*/ 0 h 4416157"/>
              <a:gd name="connsiteX3" fmla="*/ 0 w 2513193"/>
              <a:gd name="connsiteY3" fmla="*/ 4323858 h 4416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416157">
                <a:moveTo>
                  <a:pt x="0" y="4416158"/>
                </a:moveTo>
                <a:cubicBezTo>
                  <a:pt x="1130937" y="4416158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323858"/>
                  <a:pt x="0" y="4323858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9" name="フリーフォーム: 図形 438">
            <a:extLst>
              <a:ext uri="{FF2B5EF4-FFF2-40B4-BE49-F238E27FC236}">
                <a16:creationId xmlns:a16="http://schemas.microsoft.com/office/drawing/2014/main" id="{11B14CC8-D98C-65E5-A2B9-189963626123}"/>
              </a:ext>
            </a:extLst>
          </p:cNvPr>
          <p:cNvSpPr/>
          <p:nvPr/>
        </p:nvSpPr>
        <p:spPr>
          <a:xfrm>
            <a:off x="1444671" y="2806443"/>
            <a:ext cx="2513193" cy="2972225"/>
          </a:xfrm>
          <a:custGeom>
            <a:avLst/>
            <a:gdLst>
              <a:gd name="connsiteX0" fmla="*/ 0 w 2513193"/>
              <a:gd name="connsiteY0" fmla="*/ 2972226 h 2972225"/>
              <a:gd name="connsiteX1" fmla="*/ 2513193 w 2513193"/>
              <a:gd name="connsiteY1" fmla="*/ 46150 h 2972225"/>
              <a:gd name="connsiteX2" fmla="*/ 2513193 w 2513193"/>
              <a:gd name="connsiteY2" fmla="*/ 0 h 2972225"/>
              <a:gd name="connsiteX3" fmla="*/ 0 w 2513193"/>
              <a:gd name="connsiteY3" fmla="*/ 2926076 h 297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972225">
                <a:moveTo>
                  <a:pt x="0" y="2972226"/>
                </a:moveTo>
                <a:cubicBezTo>
                  <a:pt x="1130937" y="2972226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2926076"/>
                  <a:pt x="0" y="2926076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0" name="フリーフォーム: 図形 439">
            <a:extLst>
              <a:ext uri="{FF2B5EF4-FFF2-40B4-BE49-F238E27FC236}">
                <a16:creationId xmlns:a16="http://schemas.microsoft.com/office/drawing/2014/main" id="{75A7039E-94E5-B355-C68D-EFF4767B1194}"/>
              </a:ext>
            </a:extLst>
          </p:cNvPr>
          <p:cNvSpPr/>
          <p:nvPr/>
        </p:nvSpPr>
        <p:spPr>
          <a:xfrm>
            <a:off x="1444671" y="4487031"/>
            <a:ext cx="2513193" cy="1245488"/>
          </a:xfrm>
          <a:custGeom>
            <a:avLst/>
            <a:gdLst>
              <a:gd name="connsiteX0" fmla="*/ 0 w 2513193"/>
              <a:gd name="connsiteY0" fmla="*/ 1245488 h 1245488"/>
              <a:gd name="connsiteX1" fmla="*/ 2513193 w 2513193"/>
              <a:gd name="connsiteY1" fmla="*/ 92299 h 1245488"/>
              <a:gd name="connsiteX2" fmla="*/ 2513193 w 2513193"/>
              <a:gd name="connsiteY2" fmla="*/ 0 h 1245488"/>
              <a:gd name="connsiteX3" fmla="*/ 0 w 2513193"/>
              <a:gd name="connsiteY3" fmla="*/ 1153189 h 1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245488">
                <a:moveTo>
                  <a:pt x="0" y="1245488"/>
                </a:moveTo>
                <a:cubicBezTo>
                  <a:pt x="1130937" y="1245488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1153189"/>
                  <a:pt x="0" y="1153189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1" name="フリーフォーム: 図形 440">
            <a:extLst>
              <a:ext uri="{FF2B5EF4-FFF2-40B4-BE49-F238E27FC236}">
                <a16:creationId xmlns:a16="http://schemas.microsoft.com/office/drawing/2014/main" id="{3F679F3C-A0D6-1643-582C-43F565CF0FA6}"/>
              </a:ext>
            </a:extLst>
          </p:cNvPr>
          <p:cNvSpPr/>
          <p:nvPr/>
        </p:nvSpPr>
        <p:spPr>
          <a:xfrm>
            <a:off x="1444671" y="5012944"/>
            <a:ext cx="2513193" cy="627275"/>
          </a:xfrm>
          <a:custGeom>
            <a:avLst/>
            <a:gdLst>
              <a:gd name="connsiteX0" fmla="*/ 0 w 2513193"/>
              <a:gd name="connsiteY0" fmla="*/ 646096 h 646095"/>
              <a:gd name="connsiteX1" fmla="*/ 2513193 w 2513193"/>
              <a:gd name="connsiteY1" fmla="*/ 138449 h 646095"/>
              <a:gd name="connsiteX2" fmla="*/ 2513193 w 2513193"/>
              <a:gd name="connsiteY2" fmla="*/ 0 h 646095"/>
              <a:gd name="connsiteX3" fmla="*/ 0 w 2513193"/>
              <a:gd name="connsiteY3" fmla="*/ 507647 h 64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646095">
                <a:moveTo>
                  <a:pt x="0" y="646096"/>
                </a:moveTo>
                <a:cubicBezTo>
                  <a:pt x="1130937" y="646096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507647"/>
                  <a:pt x="0" y="507647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2" name="フリーフォーム: 図形 441">
            <a:extLst>
              <a:ext uri="{FF2B5EF4-FFF2-40B4-BE49-F238E27FC236}">
                <a16:creationId xmlns:a16="http://schemas.microsoft.com/office/drawing/2014/main" id="{F89D4B55-8973-8262-E0A3-7F1F90C84C9C}"/>
              </a:ext>
            </a:extLst>
          </p:cNvPr>
          <p:cNvSpPr/>
          <p:nvPr/>
        </p:nvSpPr>
        <p:spPr>
          <a:xfrm>
            <a:off x="4667064" y="630760"/>
            <a:ext cx="2513192" cy="4510569"/>
          </a:xfrm>
          <a:custGeom>
            <a:avLst/>
            <a:gdLst>
              <a:gd name="connsiteX0" fmla="*/ 0 w 2513192"/>
              <a:gd name="connsiteY0" fmla="*/ 830695 h 4531531"/>
              <a:gd name="connsiteX1" fmla="*/ 2513193 w 2513192"/>
              <a:gd name="connsiteY1" fmla="*/ 4531532 h 4531531"/>
              <a:gd name="connsiteX2" fmla="*/ 2513193 w 2513192"/>
              <a:gd name="connsiteY2" fmla="*/ 3700837 h 4531531"/>
              <a:gd name="connsiteX3" fmla="*/ 0 w 2513192"/>
              <a:gd name="connsiteY3" fmla="*/ 0 h 45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4531531">
                <a:moveTo>
                  <a:pt x="0" y="830695"/>
                </a:moveTo>
                <a:cubicBezTo>
                  <a:pt x="1130937" y="830695"/>
                  <a:pt x="1382256" y="4531532"/>
                  <a:pt x="2513193" y="4531532"/>
                </a:cubicBezTo>
                <a:lnTo>
                  <a:pt x="2513193" y="3700837"/>
                </a:lnTo>
                <a:cubicBezTo>
                  <a:pt x="1382256" y="3700837"/>
                  <a:pt x="1130937" y="0"/>
                  <a:pt x="0" y="0"/>
                </a:cubicBezTo>
                <a:close/>
              </a:path>
            </a:pathLst>
          </a:custGeom>
          <a:solidFill>
            <a:srgbClr val="4C78A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3" name="フリーフォーム: 図形 442">
            <a:extLst>
              <a:ext uri="{FF2B5EF4-FFF2-40B4-BE49-F238E27FC236}">
                <a16:creationId xmlns:a16="http://schemas.microsoft.com/office/drawing/2014/main" id="{DF8BD344-5B3B-2653-6429-4CBC500AC3A5}"/>
              </a:ext>
            </a:extLst>
          </p:cNvPr>
          <p:cNvSpPr/>
          <p:nvPr/>
        </p:nvSpPr>
        <p:spPr>
          <a:xfrm>
            <a:off x="4667064" y="358848"/>
            <a:ext cx="2513192" cy="5789018"/>
          </a:xfrm>
          <a:custGeom>
            <a:avLst/>
            <a:gdLst>
              <a:gd name="connsiteX0" fmla="*/ 0 w 2513192"/>
              <a:gd name="connsiteY0" fmla="*/ 276898 h 5789018"/>
              <a:gd name="connsiteX1" fmla="*/ 2513193 w 2513192"/>
              <a:gd name="connsiteY1" fmla="*/ 5789019 h 5789018"/>
              <a:gd name="connsiteX2" fmla="*/ 2513193 w 2513192"/>
              <a:gd name="connsiteY2" fmla="*/ 5512121 h 5789018"/>
              <a:gd name="connsiteX3" fmla="*/ 0 w 2513192"/>
              <a:gd name="connsiteY3" fmla="*/ 0 h 578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9018">
                <a:moveTo>
                  <a:pt x="0" y="276898"/>
                </a:moveTo>
                <a:cubicBezTo>
                  <a:pt x="1130937" y="276898"/>
                  <a:pt x="1382256" y="5789019"/>
                  <a:pt x="2513193" y="5789019"/>
                </a:cubicBezTo>
                <a:lnTo>
                  <a:pt x="2513193" y="5512121"/>
                </a:lnTo>
                <a:cubicBezTo>
                  <a:pt x="1382256" y="5512121"/>
                  <a:pt x="1130937" y="0"/>
                  <a:pt x="0" y="0"/>
                </a:cubicBezTo>
                <a:close/>
              </a:path>
            </a:pathLst>
          </a:custGeom>
          <a:solidFill>
            <a:srgbClr val="4C78A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4" name="フリーフォーム: 図形 443">
            <a:extLst>
              <a:ext uri="{FF2B5EF4-FFF2-40B4-BE49-F238E27FC236}">
                <a16:creationId xmlns:a16="http://schemas.microsoft.com/office/drawing/2014/main" id="{71A29944-B498-2D0B-7F43-D98FBA80EB31}"/>
              </a:ext>
            </a:extLst>
          </p:cNvPr>
          <p:cNvSpPr/>
          <p:nvPr/>
        </p:nvSpPr>
        <p:spPr>
          <a:xfrm>
            <a:off x="4667064" y="1483035"/>
            <a:ext cx="2513192" cy="2832477"/>
          </a:xfrm>
          <a:custGeom>
            <a:avLst/>
            <a:gdLst>
              <a:gd name="connsiteX0" fmla="*/ 0 w 2513192"/>
              <a:gd name="connsiteY0" fmla="*/ 1338341 h 2881771"/>
              <a:gd name="connsiteX1" fmla="*/ 2513193 w 2513192"/>
              <a:gd name="connsiteY1" fmla="*/ 2881772 h 2881771"/>
              <a:gd name="connsiteX2" fmla="*/ 2513193 w 2513192"/>
              <a:gd name="connsiteY2" fmla="*/ 1543431 h 2881771"/>
              <a:gd name="connsiteX3" fmla="*/ 0 w 2513192"/>
              <a:gd name="connsiteY3" fmla="*/ 0 h 288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2881771">
                <a:moveTo>
                  <a:pt x="0" y="1338341"/>
                </a:moveTo>
                <a:cubicBezTo>
                  <a:pt x="1130937" y="1338341"/>
                  <a:pt x="1382256" y="2881772"/>
                  <a:pt x="2513193" y="2881772"/>
                </a:cubicBezTo>
                <a:lnTo>
                  <a:pt x="2513193" y="1543431"/>
                </a:lnTo>
                <a:cubicBezTo>
                  <a:pt x="1382256" y="1543431"/>
                  <a:pt x="1130937" y="0"/>
                  <a:pt x="0" y="0"/>
                </a:cubicBezTo>
                <a:close/>
              </a:path>
            </a:pathLst>
          </a:custGeom>
          <a:solidFill>
            <a:srgbClr val="F5851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5" name="フリーフォーム: 図形 444">
            <a:extLst>
              <a:ext uri="{FF2B5EF4-FFF2-40B4-BE49-F238E27FC236}">
                <a16:creationId xmlns:a16="http://schemas.microsoft.com/office/drawing/2014/main" id="{4BE3E674-F757-7D44-CB16-8B23359C4BD2}"/>
              </a:ext>
            </a:extLst>
          </p:cNvPr>
          <p:cNvSpPr/>
          <p:nvPr/>
        </p:nvSpPr>
        <p:spPr>
          <a:xfrm>
            <a:off x="4667064" y="2352146"/>
            <a:ext cx="2513192" cy="1377291"/>
          </a:xfrm>
          <a:custGeom>
            <a:avLst/>
            <a:gdLst>
              <a:gd name="connsiteX0" fmla="*/ 0 w 2513192"/>
              <a:gd name="connsiteY0" fmla="*/ 1377292 h 1377291"/>
              <a:gd name="connsiteX1" fmla="*/ 2513193 w 2513192"/>
              <a:gd name="connsiteY1" fmla="*/ 646096 h 1377291"/>
              <a:gd name="connsiteX2" fmla="*/ 2513193 w 2513192"/>
              <a:gd name="connsiteY2" fmla="*/ 0 h 1377291"/>
              <a:gd name="connsiteX3" fmla="*/ 0 w 2513192"/>
              <a:gd name="connsiteY3" fmla="*/ 731196 h 1377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377291">
                <a:moveTo>
                  <a:pt x="0" y="1377292"/>
                </a:moveTo>
                <a:cubicBezTo>
                  <a:pt x="1130937" y="1377292"/>
                  <a:pt x="1382256" y="646096"/>
                  <a:pt x="2513193" y="646096"/>
                </a:cubicBezTo>
                <a:lnTo>
                  <a:pt x="2513193" y="0"/>
                </a:lnTo>
                <a:cubicBezTo>
                  <a:pt x="1382256" y="0"/>
                  <a:pt x="1130937" y="731196"/>
                  <a:pt x="0" y="731196"/>
                </a:cubicBezTo>
                <a:close/>
              </a:path>
            </a:pathLst>
          </a:custGeom>
          <a:solidFill>
            <a:srgbClr val="54A24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6" name="フリーフォーム: 図形 445">
            <a:extLst>
              <a:ext uri="{FF2B5EF4-FFF2-40B4-BE49-F238E27FC236}">
                <a16:creationId xmlns:a16="http://schemas.microsoft.com/office/drawing/2014/main" id="{100E3F70-75F3-B226-4D30-E71B6B563FBF}"/>
              </a:ext>
            </a:extLst>
          </p:cNvPr>
          <p:cNvSpPr/>
          <p:nvPr/>
        </p:nvSpPr>
        <p:spPr>
          <a:xfrm>
            <a:off x="4667064" y="2806443"/>
            <a:ext cx="2513192" cy="3064524"/>
          </a:xfrm>
          <a:custGeom>
            <a:avLst/>
            <a:gdLst>
              <a:gd name="connsiteX0" fmla="*/ 0 w 2513192"/>
              <a:gd name="connsiteY0" fmla="*/ 276898 h 3064524"/>
              <a:gd name="connsiteX1" fmla="*/ 2513193 w 2513192"/>
              <a:gd name="connsiteY1" fmla="*/ 3064525 h 3064524"/>
              <a:gd name="connsiteX2" fmla="*/ 2513193 w 2513192"/>
              <a:gd name="connsiteY2" fmla="*/ 2787627 h 3064524"/>
              <a:gd name="connsiteX3" fmla="*/ 0 w 2513192"/>
              <a:gd name="connsiteY3" fmla="*/ 0 h 3064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064524">
                <a:moveTo>
                  <a:pt x="0" y="276898"/>
                </a:moveTo>
                <a:cubicBezTo>
                  <a:pt x="1130937" y="276898"/>
                  <a:pt x="1382256" y="3064525"/>
                  <a:pt x="2513193" y="3064525"/>
                </a:cubicBezTo>
                <a:lnTo>
                  <a:pt x="2513193" y="2787627"/>
                </a:lnTo>
                <a:cubicBezTo>
                  <a:pt x="1382256" y="2787627"/>
                  <a:pt x="1130937" y="0"/>
                  <a:pt x="0" y="0"/>
                </a:cubicBezTo>
                <a:close/>
              </a:path>
            </a:pathLst>
          </a:custGeom>
          <a:solidFill>
            <a:srgbClr val="54A24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7" name="フリーフォーム: 図形 446">
            <a:extLst>
              <a:ext uri="{FF2B5EF4-FFF2-40B4-BE49-F238E27FC236}">
                <a16:creationId xmlns:a16="http://schemas.microsoft.com/office/drawing/2014/main" id="{DDFCC3E9-4DB3-64DF-9713-8385979728D1}"/>
              </a:ext>
            </a:extLst>
          </p:cNvPr>
          <p:cNvSpPr/>
          <p:nvPr/>
        </p:nvSpPr>
        <p:spPr>
          <a:xfrm>
            <a:off x="4667064" y="1844499"/>
            <a:ext cx="2513192" cy="2604319"/>
          </a:xfrm>
          <a:custGeom>
            <a:avLst/>
            <a:gdLst>
              <a:gd name="connsiteX0" fmla="*/ 0 w 2513192"/>
              <a:gd name="connsiteY0" fmla="*/ 2604320 h 2604319"/>
              <a:gd name="connsiteX1" fmla="*/ 2513193 w 2513192"/>
              <a:gd name="connsiteY1" fmla="*/ 507647 h 2604319"/>
              <a:gd name="connsiteX2" fmla="*/ 2513193 w 2513192"/>
              <a:gd name="connsiteY2" fmla="*/ 0 h 2604319"/>
              <a:gd name="connsiteX3" fmla="*/ 0 w 2513192"/>
              <a:gd name="connsiteY3" fmla="*/ 2096673 h 260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2604319">
                <a:moveTo>
                  <a:pt x="0" y="2604320"/>
                </a:moveTo>
                <a:cubicBezTo>
                  <a:pt x="1130937" y="2604320"/>
                  <a:pt x="1382256" y="507647"/>
                  <a:pt x="2513193" y="507647"/>
                </a:cubicBezTo>
                <a:lnTo>
                  <a:pt x="2513193" y="0"/>
                </a:lnTo>
                <a:cubicBezTo>
                  <a:pt x="1382256" y="0"/>
                  <a:pt x="1130937" y="2096673"/>
                  <a:pt x="0" y="2096673"/>
                </a:cubicBezTo>
                <a:close/>
              </a:path>
            </a:pathLst>
          </a:custGeom>
          <a:solidFill>
            <a:srgbClr val="E45756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8" name="フリーフォーム: 図形 447">
            <a:extLst>
              <a:ext uri="{FF2B5EF4-FFF2-40B4-BE49-F238E27FC236}">
                <a16:creationId xmlns:a16="http://schemas.microsoft.com/office/drawing/2014/main" id="{936FBD42-3734-2C4F-2C03-939F507A67C1}"/>
              </a:ext>
            </a:extLst>
          </p:cNvPr>
          <p:cNvSpPr/>
          <p:nvPr/>
        </p:nvSpPr>
        <p:spPr>
          <a:xfrm>
            <a:off x="4667064" y="3756573"/>
            <a:ext cx="2513192" cy="1837496"/>
          </a:xfrm>
          <a:custGeom>
            <a:avLst/>
            <a:gdLst>
              <a:gd name="connsiteX0" fmla="*/ 0 w 2513192"/>
              <a:gd name="connsiteY0" fmla="*/ 184599 h 1837496"/>
              <a:gd name="connsiteX1" fmla="*/ 2513193 w 2513192"/>
              <a:gd name="connsiteY1" fmla="*/ 1837497 h 1837496"/>
              <a:gd name="connsiteX2" fmla="*/ 2513193 w 2513192"/>
              <a:gd name="connsiteY2" fmla="*/ 1652898 h 1837496"/>
              <a:gd name="connsiteX3" fmla="*/ 0 w 2513192"/>
              <a:gd name="connsiteY3" fmla="*/ 0 h 1837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837496">
                <a:moveTo>
                  <a:pt x="0" y="184599"/>
                </a:moveTo>
                <a:cubicBezTo>
                  <a:pt x="1130937" y="184599"/>
                  <a:pt x="1382256" y="1837497"/>
                  <a:pt x="2513193" y="1837497"/>
                </a:cubicBezTo>
                <a:lnTo>
                  <a:pt x="2513193" y="1652898"/>
                </a:lnTo>
                <a:cubicBezTo>
                  <a:pt x="1382256" y="1652898"/>
                  <a:pt x="1130937" y="0"/>
                  <a:pt x="0" y="0"/>
                </a:cubicBezTo>
                <a:close/>
              </a:path>
            </a:pathLst>
          </a:custGeom>
          <a:solidFill>
            <a:srgbClr val="E45756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9" name="フリーフォーム: 図形 448">
            <a:extLst>
              <a:ext uri="{FF2B5EF4-FFF2-40B4-BE49-F238E27FC236}">
                <a16:creationId xmlns:a16="http://schemas.microsoft.com/office/drawing/2014/main" id="{481F2E4F-B27E-AA6A-47FE-977277B817A8}"/>
              </a:ext>
            </a:extLst>
          </p:cNvPr>
          <p:cNvSpPr/>
          <p:nvPr/>
        </p:nvSpPr>
        <p:spPr>
          <a:xfrm>
            <a:off x="4667064" y="1429152"/>
            <a:ext cx="2513192" cy="3565525"/>
          </a:xfrm>
          <a:custGeom>
            <a:avLst/>
            <a:gdLst>
              <a:gd name="connsiteX0" fmla="*/ 0 w 2513192"/>
              <a:gd name="connsiteY0" fmla="*/ 3565526 h 3565525"/>
              <a:gd name="connsiteX1" fmla="*/ 2513193 w 2513192"/>
              <a:gd name="connsiteY1" fmla="*/ 415347 h 3565525"/>
              <a:gd name="connsiteX2" fmla="*/ 2513193 w 2513192"/>
              <a:gd name="connsiteY2" fmla="*/ 0 h 3565525"/>
              <a:gd name="connsiteX3" fmla="*/ 0 w 2513192"/>
              <a:gd name="connsiteY3" fmla="*/ 3150179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565525">
                <a:moveTo>
                  <a:pt x="0" y="3565526"/>
                </a:moveTo>
                <a:cubicBezTo>
                  <a:pt x="1130937" y="3565526"/>
                  <a:pt x="1382256" y="415347"/>
                  <a:pt x="2513193" y="415347"/>
                </a:cubicBezTo>
                <a:lnTo>
                  <a:pt x="2513193" y="0"/>
                </a:lnTo>
                <a:cubicBezTo>
                  <a:pt x="1382256" y="0"/>
                  <a:pt x="1130937" y="3150179"/>
                  <a:pt x="0" y="3150179"/>
                </a:cubicBezTo>
                <a:close/>
              </a:path>
            </a:pathLst>
          </a:custGeom>
          <a:solidFill>
            <a:srgbClr val="72B7B2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0" name="フリーフォーム: 図形 449">
            <a:extLst>
              <a:ext uri="{FF2B5EF4-FFF2-40B4-BE49-F238E27FC236}">
                <a16:creationId xmlns:a16="http://schemas.microsoft.com/office/drawing/2014/main" id="{780DBAF4-36C6-81DA-CB17-A8DE4B361146}"/>
              </a:ext>
            </a:extLst>
          </p:cNvPr>
          <p:cNvSpPr/>
          <p:nvPr/>
        </p:nvSpPr>
        <p:spPr>
          <a:xfrm>
            <a:off x="4667064" y="4487031"/>
            <a:ext cx="2513192" cy="922440"/>
          </a:xfrm>
          <a:custGeom>
            <a:avLst/>
            <a:gdLst>
              <a:gd name="connsiteX0" fmla="*/ 0 w 2513192"/>
              <a:gd name="connsiteY0" fmla="*/ 92299 h 922440"/>
              <a:gd name="connsiteX1" fmla="*/ 2513193 w 2513192"/>
              <a:gd name="connsiteY1" fmla="*/ 922440 h 922440"/>
              <a:gd name="connsiteX2" fmla="*/ 2513193 w 2513192"/>
              <a:gd name="connsiteY2" fmla="*/ 830141 h 922440"/>
              <a:gd name="connsiteX3" fmla="*/ 0 w 2513192"/>
              <a:gd name="connsiteY3" fmla="*/ 0 h 92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922440">
                <a:moveTo>
                  <a:pt x="0" y="92299"/>
                </a:moveTo>
                <a:cubicBezTo>
                  <a:pt x="1130937" y="92299"/>
                  <a:pt x="1382256" y="922440"/>
                  <a:pt x="2513193" y="922440"/>
                </a:cubicBezTo>
                <a:lnTo>
                  <a:pt x="2513193" y="830141"/>
                </a:lnTo>
                <a:cubicBezTo>
                  <a:pt x="1382256" y="830141"/>
                  <a:pt x="1130937" y="0"/>
                  <a:pt x="0" y="0"/>
                </a:cubicBezTo>
                <a:close/>
              </a:path>
            </a:pathLst>
          </a:custGeom>
          <a:solidFill>
            <a:srgbClr val="72B7B2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1" name="フリーフォーム: 図形 450">
            <a:extLst>
              <a:ext uri="{FF2B5EF4-FFF2-40B4-BE49-F238E27FC236}">
                <a16:creationId xmlns:a16="http://schemas.microsoft.com/office/drawing/2014/main" id="{4F6AF319-D7E7-FFBD-EC5A-3728F7E53917}"/>
              </a:ext>
            </a:extLst>
          </p:cNvPr>
          <p:cNvSpPr/>
          <p:nvPr/>
        </p:nvSpPr>
        <p:spPr>
          <a:xfrm>
            <a:off x="4667064" y="367708"/>
            <a:ext cx="2513192" cy="5780157"/>
          </a:xfrm>
          <a:custGeom>
            <a:avLst/>
            <a:gdLst>
              <a:gd name="connsiteX0" fmla="*/ 0 w 2513192"/>
              <a:gd name="connsiteY0" fmla="*/ 5780158 h 5780157"/>
              <a:gd name="connsiteX1" fmla="*/ 2513193 w 2513192"/>
              <a:gd name="connsiteY1" fmla="*/ 1061443 h 5780157"/>
              <a:gd name="connsiteX2" fmla="*/ 2513193 w 2513192"/>
              <a:gd name="connsiteY2" fmla="*/ 0 h 5780157"/>
              <a:gd name="connsiteX3" fmla="*/ 0 w 2513192"/>
              <a:gd name="connsiteY3" fmla="*/ 4718715 h 578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0157">
                <a:moveTo>
                  <a:pt x="0" y="5780158"/>
                </a:moveTo>
                <a:cubicBezTo>
                  <a:pt x="1130937" y="5780158"/>
                  <a:pt x="1382256" y="1061443"/>
                  <a:pt x="2513193" y="1061443"/>
                </a:cubicBezTo>
                <a:lnTo>
                  <a:pt x="2513193" y="0"/>
                </a:lnTo>
                <a:cubicBezTo>
                  <a:pt x="1382256" y="0"/>
                  <a:pt x="1130937" y="4718715"/>
                  <a:pt x="0" y="4718715"/>
                </a:cubicBezTo>
                <a:close/>
              </a:path>
            </a:pathLst>
          </a:custGeom>
          <a:solidFill>
            <a:srgbClr val="BAB0A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2" name="フリーフォーム: 図形 451">
            <a:extLst>
              <a:ext uri="{FF2B5EF4-FFF2-40B4-BE49-F238E27FC236}">
                <a16:creationId xmlns:a16="http://schemas.microsoft.com/office/drawing/2014/main" id="{679452DA-A11E-8D2B-D110-120EEFDF182A}"/>
              </a:ext>
            </a:extLst>
          </p:cNvPr>
          <p:cNvSpPr/>
          <p:nvPr/>
        </p:nvSpPr>
        <p:spPr>
          <a:xfrm>
            <a:off x="4667064" y="5010798"/>
            <a:ext cx="2513192" cy="306374"/>
          </a:xfrm>
          <a:custGeom>
            <a:avLst/>
            <a:gdLst>
              <a:gd name="connsiteX0" fmla="*/ 0 w 2513192"/>
              <a:gd name="connsiteY0" fmla="*/ 92299 h 323048"/>
              <a:gd name="connsiteX1" fmla="*/ 2513193 w 2513192"/>
              <a:gd name="connsiteY1" fmla="*/ 323048 h 323048"/>
              <a:gd name="connsiteX2" fmla="*/ 2513193 w 2513192"/>
              <a:gd name="connsiteY2" fmla="*/ 230749 h 323048"/>
              <a:gd name="connsiteX3" fmla="*/ 0 w 2513192"/>
              <a:gd name="connsiteY3" fmla="*/ 0 h 32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23048">
                <a:moveTo>
                  <a:pt x="0" y="92299"/>
                </a:moveTo>
                <a:cubicBezTo>
                  <a:pt x="1130937" y="92299"/>
                  <a:pt x="1382256" y="323048"/>
                  <a:pt x="2513193" y="323048"/>
                </a:cubicBezTo>
                <a:lnTo>
                  <a:pt x="2513193" y="230749"/>
                </a:lnTo>
                <a:cubicBezTo>
                  <a:pt x="1382256" y="230749"/>
                  <a:pt x="1130937" y="0"/>
                  <a:pt x="0" y="0"/>
                </a:cubicBezTo>
                <a:close/>
              </a:path>
            </a:pathLst>
          </a:custGeom>
          <a:solidFill>
            <a:srgbClr val="BAB0A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3" name="フリーフォーム: 図形 452">
            <a:extLst>
              <a:ext uri="{FF2B5EF4-FFF2-40B4-BE49-F238E27FC236}">
                <a16:creationId xmlns:a16="http://schemas.microsoft.com/office/drawing/2014/main" id="{A15EF97D-6BB9-1DBE-3F04-A447A4167DF3}"/>
              </a:ext>
            </a:extLst>
          </p:cNvPr>
          <p:cNvSpPr/>
          <p:nvPr/>
        </p:nvSpPr>
        <p:spPr>
          <a:xfrm>
            <a:off x="7893739" y="884954"/>
            <a:ext cx="2513192" cy="4256375"/>
          </a:xfrm>
          <a:custGeom>
            <a:avLst/>
            <a:gdLst>
              <a:gd name="connsiteX0" fmla="*/ 0 w 2513192"/>
              <a:gd name="connsiteY0" fmla="*/ 4282323 h 4282323"/>
              <a:gd name="connsiteX1" fmla="*/ 2513193 w 2513192"/>
              <a:gd name="connsiteY1" fmla="*/ 3368928 h 4282323"/>
              <a:gd name="connsiteX2" fmla="*/ 2513193 w 2513192"/>
              <a:gd name="connsiteY2" fmla="*/ 0 h 4282323"/>
              <a:gd name="connsiteX3" fmla="*/ 0 w 2513192"/>
              <a:gd name="connsiteY3" fmla="*/ 913395 h 428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4282323">
                <a:moveTo>
                  <a:pt x="0" y="4282323"/>
                </a:moveTo>
                <a:cubicBezTo>
                  <a:pt x="1130937" y="4282323"/>
                  <a:pt x="1382256" y="3368928"/>
                  <a:pt x="2513193" y="3368928"/>
                </a:cubicBezTo>
                <a:lnTo>
                  <a:pt x="2513193" y="0"/>
                </a:lnTo>
                <a:cubicBezTo>
                  <a:pt x="1382256" y="0"/>
                  <a:pt x="1130937" y="913395"/>
                  <a:pt x="0" y="913395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4" name="フリーフォーム: 図形 453">
            <a:extLst>
              <a:ext uri="{FF2B5EF4-FFF2-40B4-BE49-F238E27FC236}">
                <a16:creationId xmlns:a16="http://schemas.microsoft.com/office/drawing/2014/main" id="{1F0338A6-0E46-AF41-CE79-F5ED215F3ADE}"/>
              </a:ext>
            </a:extLst>
          </p:cNvPr>
          <p:cNvSpPr/>
          <p:nvPr/>
        </p:nvSpPr>
        <p:spPr>
          <a:xfrm>
            <a:off x="7893739" y="644607"/>
            <a:ext cx="2513192" cy="5074252"/>
          </a:xfrm>
          <a:custGeom>
            <a:avLst/>
            <a:gdLst>
              <a:gd name="connsiteX0" fmla="*/ 0 w 2513192"/>
              <a:gd name="connsiteY0" fmla="*/ 1153743 h 5074252"/>
              <a:gd name="connsiteX1" fmla="*/ 2513193 w 2513192"/>
              <a:gd name="connsiteY1" fmla="*/ 5074252 h 5074252"/>
              <a:gd name="connsiteX2" fmla="*/ 2513193 w 2513192"/>
              <a:gd name="connsiteY2" fmla="*/ 3920509 h 5074252"/>
              <a:gd name="connsiteX3" fmla="*/ 0 w 2513192"/>
              <a:gd name="connsiteY3" fmla="*/ 0 h 507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074252">
                <a:moveTo>
                  <a:pt x="0" y="1153743"/>
                </a:moveTo>
                <a:cubicBezTo>
                  <a:pt x="1130937" y="1153743"/>
                  <a:pt x="1382256" y="5074252"/>
                  <a:pt x="2513193" y="5074252"/>
                </a:cubicBezTo>
                <a:lnTo>
                  <a:pt x="2513193" y="3920509"/>
                </a:lnTo>
                <a:cubicBezTo>
                  <a:pt x="1382256" y="3920509"/>
                  <a:pt x="1130937" y="0"/>
                  <a:pt x="0" y="0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5" name="フリーフォーム: 図形 454">
            <a:extLst>
              <a:ext uri="{FF2B5EF4-FFF2-40B4-BE49-F238E27FC236}">
                <a16:creationId xmlns:a16="http://schemas.microsoft.com/office/drawing/2014/main" id="{4E379479-6E49-6F20-D851-EAE679EAABED}"/>
              </a:ext>
            </a:extLst>
          </p:cNvPr>
          <p:cNvSpPr/>
          <p:nvPr/>
        </p:nvSpPr>
        <p:spPr>
          <a:xfrm>
            <a:off x="7893739" y="367708"/>
            <a:ext cx="2513192" cy="5780157"/>
          </a:xfrm>
          <a:custGeom>
            <a:avLst/>
            <a:gdLst>
              <a:gd name="connsiteX0" fmla="*/ 0 w 2513192"/>
              <a:gd name="connsiteY0" fmla="*/ 276898 h 5780157"/>
              <a:gd name="connsiteX1" fmla="*/ 2513193 w 2513192"/>
              <a:gd name="connsiteY1" fmla="*/ 5780158 h 5780157"/>
              <a:gd name="connsiteX2" fmla="*/ 2513193 w 2513192"/>
              <a:gd name="connsiteY2" fmla="*/ 5503260 h 5780157"/>
              <a:gd name="connsiteX3" fmla="*/ 0 w 2513192"/>
              <a:gd name="connsiteY3" fmla="*/ 0 h 578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0157">
                <a:moveTo>
                  <a:pt x="0" y="276898"/>
                </a:moveTo>
                <a:cubicBezTo>
                  <a:pt x="1130937" y="276898"/>
                  <a:pt x="1382256" y="5780158"/>
                  <a:pt x="2513193" y="5780158"/>
                </a:cubicBezTo>
                <a:lnTo>
                  <a:pt x="2513193" y="5503260"/>
                </a:lnTo>
                <a:cubicBezTo>
                  <a:pt x="1382256" y="5503260"/>
                  <a:pt x="1130937" y="0"/>
                  <a:pt x="0" y="0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6" name="フリーフォーム: 図形 455">
            <a:extLst>
              <a:ext uri="{FF2B5EF4-FFF2-40B4-BE49-F238E27FC236}">
                <a16:creationId xmlns:a16="http://schemas.microsoft.com/office/drawing/2014/main" id="{137C9B71-E280-7589-8F73-C58884915360}"/>
              </a:ext>
            </a:extLst>
          </p:cNvPr>
          <p:cNvSpPr/>
          <p:nvPr/>
        </p:nvSpPr>
        <p:spPr>
          <a:xfrm>
            <a:off x="7893739" y="331158"/>
            <a:ext cx="2513192" cy="5816708"/>
          </a:xfrm>
          <a:custGeom>
            <a:avLst/>
            <a:gdLst>
              <a:gd name="connsiteX0" fmla="*/ 0 w 2513192"/>
              <a:gd name="connsiteY0" fmla="*/ 5816709 h 5816708"/>
              <a:gd name="connsiteX1" fmla="*/ 2513193 w 2513192"/>
              <a:gd name="connsiteY1" fmla="*/ 553796 h 5816708"/>
              <a:gd name="connsiteX2" fmla="*/ 2513193 w 2513192"/>
              <a:gd name="connsiteY2" fmla="*/ 0 h 5816708"/>
              <a:gd name="connsiteX3" fmla="*/ 0 w 2513192"/>
              <a:gd name="connsiteY3" fmla="*/ 5262912 h 5816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816708">
                <a:moveTo>
                  <a:pt x="0" y="5816709"/>
                </a:moveTo>
                <a:cubicBezTo>
                  <a:pt x="1130937" y="5816709"/>
                  <a:pt x="1382256" y="553796"/>
                  <a:pt x="2513193" y="553796"/>
                </a:cubicBezTo>
                <a:lnTo>
                  <a:pt x="2513193" y="0"/>
                </a:lnTo>
                <a:cubicBezTo>
                  <a:pt x="1382256" y="0"/>
                  <a:pt x="1130937" y="5262912"/>
                  <a:pt x="0" y="5262912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7" name="フリーフォーム: 図形 456">
            <a:extLst>
              <a:ext uri="{FF2B5EF4-FFF2-40B4-BE49-F238E27FC236}">
                <a16:creationId xmlns:a16="http://schemas.microsoft.com/office/drawing/2014/main" id="{AFDA69E9-1AAC-0FFD-7138-1559C11D56F2}"/>
              </a:ext>
            </a:extLst>
          </p:cNvPr>
          <p:cNvSpPr/>
          <p:nvPr/>
        </p:nvSpPr>
        <p:spPr>
          <a:xfrm>
            <a:off x="7893739" y="4288218"/>
            <a:ext cx="2513192" cy="1305852"/>
          </a:xfrm>
          <a:custGeom>
            <a:avLst/>
            <a:gdLst>
              <a:gd name="connsiteX0" fmla="*/ 0 w 2513192"/>
              <a:gd name="connsiteY0" fmla="*/ 1305852 h 1305852"/>
              <a:gd name="connsiteX1" fmla="*/ 2513193 w 2513192"/>
              <a:gd name="connsiteY1" fmla="*/ 276898 h 1305852"/>
              <a:gd name="connsiteX2" fmla="*/ 2513193 w 2513192"/>
              <a:gd name="connsiteY2" fmla="*/ 0 h 1305852"/>
              <a:gd name="connsiteX3" fmla="*/ 0 w 2513192"/>
              <a:gd name="connsiteY3" fmla="*/ 1028954 h 1305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305852">
                <a:moveTo>
                  <a:pt x="0" y="1305852"/>
                </a:moveTo>
                <a:cubicBezTo>
                  <a:pt x="1130937" y="1305852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1028954"/>
                  <a:pt x="0" y="1028954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8" name="フリーフォーム: 図形 457">
            <a:extLst>
              <a:ext uri="{FF2B5EF4-FFF2-40B4-BE49-F238E27FC236}">
                <a16:creationId xmlns:a16="http://schemas.microsoft.com/office/drawing/2014/main" id="{0DF02844-3076-7D83-46BE-5393F7615A49}"/>
              </a:ext>
            </a:extLst>
          </p:cNvPr>
          <p:cNvSpPr/>
          <p:nvPr/>
        </p:nvSpPr>
        <p:spPr>
          <a:xfrm>
            <a:off x="7893739" y="5224872"/>
            <a:ext cx="2513192" cy="646095"/>
          </a:xfrm>
          <a:custGeom>
            <a:avLst/>
            <a:gdLst>
              <a:gd name="connsiteX0" fmla="*/ 0 w 2513192"/>
              <a:gd name="connsiteY0" fmla="*/ 92299 h 646095"/>
              <a:gd name="connsiteX1" fmla="*/ 2513193 w 2513192"/>
              <a:gd name="connsiteY1" fmla="*/ 646096 h 646095"/>
              <a:gd name="connsiteX2" fmla="*/ 2513193 w 2513192"/>
              <a:gd name="connsiteY2" fmla="*/ 553796 h 646095"/>
              <a:gd name="connsiteX3" fmla="*/ 0 w 2513192"/>
              <a:gd name="connsiteY3" fmla="*/ 0 h 64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646095">
                <a:moveTo>
                  <a:pt x="0" y="92299"/>
                </a:moveTo>
                <a:cubicBezTo>
                  <a:pt x="1130937" y="92299"/>
                  <a:pt x="1382256" y="646096"/>
                  <a:pt x="2513193" y="646096"/>
                </a:cubicBezTo>
                <a:lnTo>
                  <a:pt x="2513193" y="553796"/>
                </a:lnTo>
                <a:cubicBezTo>
                  <a:pt x="1382256" y="553796"/>
                  <a:pt x="1130937" y="0"/>
                  <a:pt x="0" y="0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9" name="フリーフォーム: 図形 458">
            <a:extLst>
              <a:ext uri="{FF2B5EF4-FFF2-40B4-BE49-F238E27FC236}">
                <a16:creationId xmlns:a16="http://schemas.microsoft.com/office/drawing/2014/main" id="{ABE3EE49-916F-4B1A-78CE-06841C53FB35}"/>
              </a:ext>
            </a:extLst>
          </p:cNvPr>
          <p:cNvSpPr/>
          <p:nvPr/>
        </p:nvSpPr>
        <p:spPr>
          <a:xfrm>
            <a:off x="867245" y="381643"/>
            <a:ext cx="560114" cy="3537182"/>
          </a:xfrm>
          <a:custGeom>
            <a:avLst/>
            <a:gdLst>
              <a:gd name="connsiteX0" fmla="*/ 0 w 218538"/>
              <a:gd name="connsiteY0" fmla="*/ 3514762 h 3514761"/>
              <a:gd name="connsiteX1" fmla="*/ 218538 w 218538"/>
              <a:gd name="connsiteY1" fmla="*/ 3514762 h 3514761"/>
              <a:gd name="connsiteX2" fmla="*/ 218538 w 218538"/>
              <a:gd name="connsiteY2" fmla="*/ 0 h 3514761"/>
              <a:gd name="connsiteX3" fmla="*/ 0 w 218538"/>
              <a:gd name="connsiteY3" fmla="*/ 0 h 351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3514761">
                <a:moveTo>
                  <a:pt x="0" y="3514762"/>
                </a:moveTo>
                <a:lnTo>
                  <a:pt x="218538" y="3514762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0" name="フリーフォーム: 図形 459">
            <a:extLst>
              <a:ext uri="{FF2B5EF4-FFF2-40B4-BE49-F238E27FC236}">
                <a16:creationId xmlns:a16="http://schemas.microsoft.com/office/drawing/2014/main" id="{6683AC3D-7B75-FCCD-E4AE-14DCBB882405}"/>
              </a:ext>
            </a:extLst>
          </p:cNvPr>
          <p:cNvSpPr/>
          <p:nvPr/>
        </p:nvSpPr>
        <p:spPr>
          <a:xfrm>
            <a:off x="867350" y="3984629"/>
            <a:ext cx="560114" cy="923769"/>
          </a:xfrm>
          <a:custGeom>
            <a:avLst/>
            <a:gdLst>
              <a:gd name="connsiteX0" fmla="*/ 0 w 218538"/>
              <a:gd name="connsiteY0" fmla="*/ 922625 h 922625"/>
              <a:gd name="connsiteX1" fmla="*/ 218538 w 218538"/>
              <a:gd name="connsiteY1" fmla="*/ 922625 h 922625"/>
              <a:gd name="connsiteX2" fmla="*/ 218538 w 218538"/>
              <a:gd name="connsiteY2" fmla="*/ 0 h 922625"/>
              <a:gd name="connsiteX3" fmla="*/ 0 w 218538"/>
              <a:gd name="connsiteY3" fmla="*/ 0 h 92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922625">
                <a:moveTo>
                  <a:pt x="0" y="922625"/>
                </a:moveTo>
                <a:lnTo>
                  <a:pt x="218538" y="922625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1" name="フリーフォーム: 図形 460">
            <a:extLst>
              <a:ext uri="{FF2B5EF4-FFF2-40B4-BE49-F238E27FC236}">
                <a16:creationId xmlns:a16="http://schemas.microsoft.com/office/drawing/2014/main" id="{680DC24F-D75F-0808-A175-E99A2280F515}"/>
              </a:ext>
            </a:extLst>
          </p:cNvPr>
          <p:cNvSpPr/>
          <p:nvPr/>
        </p:nvSpPr>
        <p:spPr>
          <a:xfrm>
            <a:off x="867090" y="5007211"/>
            <a:ext cx="560114" cy="238226"/>
          </a:xfrm>
          <a:custGeom>
            <a:avLst/>
            <a:gdLst>
              <a:gd name="connsiteX0" fmla="*/ 0 w 218538"/>
              <a:gd name="connsiteY0" fmla="*/ 263607 h 263606"/>
              <a:gd name="connsiteX1" fmla="*/ 218538 w 218538"/>
              <a:gd name="connsiteY1" fmla="*/ 263607 h 263606"/>
              <a:gd name="connsiteX2" fmla="*/ 218538 w 218538"/>
              <a:gd name="connsiteY2" fmla="*/ 0 h 263606"/>
              <a:gd name="connsiteX3" fmla="*/ 0 w 218538"/>
              <a:gd name="connsiteY3" fmla="*/ 0 h 26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263606">
                <a:moveTo>
                  <a:pt x="0" y="263607"/>
                </a:moveTo>
                <a:lnTo>
                  <a:pt x="218538" y="26360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2" name="フリーフォーム: 図形 461">
            <a:extLst>
              <a:ext uri="{FF2B5EF4-FFF2-40B4-BE49-F238E27FC236}">
                <a16:creationId xmlns:a16="http://schemas.microsoft.com/office/drawing/2014/main" id="{98D217BD-DCE7-0382-A386-CDB8631A6721}"/>
              </a:ext>
            </a:extLst>
          </p:cNvPr>
          <p:cNvSpPr/>
          <p:nvPr/>
        </p:nvSpPr>
        <p:spPr>
          <a:xfrm>
            <a:off x="867090" y="5344564"/>
            <a:ext cx="560114" cy="98765"/>
          </a:xfrm>
          <a:custGeom>
            <a:avLst/>
            <a:gdLst>
              <a:gd name="connsiteX0" fmla="*/ 0 w 218538"/>
              <a:gd name="connsiteY0" fmla="*/ 131804 h 131803"/>
              <a:gd name="connsiteX1" fmla="*/ 218538 w 218538"/>
              <a:gd name="connsiteY1" fmla="*/ 131804 h 131803"/>
              <a:gd name="connsiteX2" fmla="*/ 218538 w 218538"/>
              <a:gd name="connsiteY2" fmla="*/ 0 h 131803"/>
              <a:gd name="connsiteX3" fmla="*/ 0 w 218538"/>
              <a:gd name="connsiteY3" fmla="*/ 0 h 131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31803">
                <a:moveTo>
                  <a:pt x="0" y="131804"/>
                </a:moveTo>
                <a:lnTo>
                  <a:pt x="218538" y="131804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3" name="フリーフォーム: 図形 462">
            <a:extLst>
              <a:ext uri="{FF2B5EF4-FFF2-40B4-BE49-F238E27FC236}">
                <a16:creationId xmlns:a16="http://schemas.microsoft.com/office/drawing/2014/main" id="{26292CFA-AF7E-C0D0-7BDF-E3049B13CC53}"/>
              </a:ext>
            </a:extLst>
          </p:cNvPr>
          <p:cNvSpPr/>
          <p:nvPr/>
        </p:nvSpPr>
        <p:spPr>
          <a:xfrm>
            <a:off x="867245" y="5521627"/>
            <a:ext cx="560114" cy="608686"/>
          </a:xfrm>
          <a:custGeom>
            <a:avLst/>
            <a:gdLst>
              <a:gd name="connsiteX0" fmla="*/ 0 w 218538"/>
              <a:gd name="connsiteY0" fmla="*/ 615083 h 615083"/>
              <a:gd name="connsiteX1" fmla="*/ 218538 w 218538"/>
              <a:gd name="connsiteY1" fmla="*/ 615083 h 615083"/>
              <a:gd name="connsiteX2" fmla="*/ 218538 w 218538"/>
              <a:gd name="connsiteY2" fmla="*/ 0 h 615083"/>
              <a:gd name="connsiteX3" fmla="*/ 0 w 218538"/>
              <a:gd name="connsiteY3" fmla="*/ 0 h 61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615083">
                <a:moveTo>
                  <a:pt x="0" y="615083"/>
                </a:moveTo>
                <a:lnTo>
                  <a:pt x="218538" y="615083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6" name="テキスト ボックス 755">
            <a:extLst>
              <a:ext uri="{FF2B5EF4-FFF2-40B4-BE49-F238E27FC236}">
                <a16:creationId xmlns:a16="http://schemas.microsoft.com/office/drawing/2014/main" id="{F2F866C3-4D3D-5189-8630-49F479A5C8C4}"/>
              </a:ext>
            </a:extLst>
          </p:cNvPr>
          <p:cNvSpPr txBox="1"/>
          <p:nvPr/>
        </p:nvSpPr>
        <p:spPr>
          <a:xfrm>
            <a:off x="831742" y="1864169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sMRI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7" name="テキスト ボックス 756">
            <a:extLst>
              <a:ext uri="{FF2B5EF4-FFF2-40B4-BE49-F238E27FC236}">
                <a16:creationId xmlns:a16="http://schemas.microsoft.com/office/drawing/2014/main" id="{53B5741E-AB01-B07C-4F2E-90DD26F4A996}"/>
              </a:ext>
            </a:extLst>
          </p:cNvPr>
          <p:cNvSpPr txBox="1"/>
          <p:nvPr/>
        </p:nvSpPr>
        <p:spPr>
          <a:xfrm>
            <a:off x="831847" y="4220386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</a:t>
            </a:r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8" name="テキスト ボックス 757">
            <a:extLst>
              <a:ext uri="{FF2B5EF4-FFF2-40B4-BE49-F238E27FC236}">
                <a16:creationId xmlns:a16="http://schemas.microsoft.com/office/drawing/2014/main" id="{EE35C0A4-FFC0-9824-EE2E-240AC53B4630}"/>
              </a:ext>
            </a:extLst>
          </p:cNvPr>
          <p:cNvSpPr txBox="1"/>
          <p:nvPr/>
        </p:nvSpPr>
        <p:spPr>
          <a:xfrm>
            <a:off x="383231" y="2046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Modality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0" name="テキスト ボックス 759">
            <a:extLst>
              <a:ext uri="{FF2B5EF4-FFF2-40B4-BE49-F238E27FC236}">
                <a16:creationId xmlns:a16="http://schemas.microsoft.com/office/drawing/2014/main" id="{B1197AB9-B055-1BC3-919E-9FC8CF55B9A6}"/>
              </a:ext>
            </a:extLst>
          </p:cNvPr>
          <p:cNvSpPr txBox="1"/>
          <p:nvPr/>
        </p:nvSpPr>
        <p:spPr>
          <a:xfrm>
            <a:off x="3546946" y="4112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1" name="テキスト ボックス 760">
            <a:extLst>
              <a:ext uri="{FF2B5EF4-FFF2-40B4-BE49-F238E27FC236}">
                <a16:creationId xmlns:a16="http://schemas.microsoft.com/office/drawing/2014/main" id="{9328C109-4A57-CAD5-6C82-6082202F452E}"/>
              </a:ext>
            </a:extLst>
          </p:cNvPr>
          <p:cNvSpPr txBox="1"/>
          <p:nvPr/>
        </p:nvSpPr>
        <p:spPr>
          <a:xfrm>
            <a:off x="6768968" y="12582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uild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2" name="テキスト ボックス 761">
            <a:extLst>
              <a:ext uri="{FF2B5EF4-FFF2-40B4-BE49-F238E27FC236}">
                <a16:creationId xmlns:a16="http://schemas.microsoft.com/office/drawing/2014/main" id="{35CB7165-EC4D-FD62-0FE7-C288CF4B22F1}"/>
              </a:ext>
            </a:extLst>
          </p:cNvPr>
          <p:cNvSpPr txBox="1"/>
          <p:nvPr/>
        </p:nvSpPr>
        <p:spPr>
          <a:xfrm>
            <a:off x="10079976" y="-24414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3" name="テキスト ボックス 762">
            <a:extLst>
              <a:ext uri="{FF2B5EF4-FFF2-40B4-BE49-F238E27FC236}">
                <a16:creationId xmlns:a16="http://schemas.microsoft.com/office/drawing/2014/main" id="{8E643539-E35E-B70C-AC03-01D63C3FCC52}"/>
              </a:ext>
            </a:extLst>
          </p:cNvPr>
          <p:cNvSpPr txBox="1"/>
          <p:nvPr/>
        </p:nvSpPr>
        <p:spPr>
          <a:xfrm>
            <a:off x="831587" y="4949627"/>
            <a:ext cx="63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dMRI</a:t>
            </a:r>
          </a:p>
        </p:txBody>
      </p:sp>
      <p:sp>
        <p:nvSpPr>
          <p:cNvPr id="764" name="テキスト ボックス 763">
            <a:extLst>
              <a:ext uri="{FF2B5EF4-FFF2-40B4-BE49-F238E27FC236}">
                <a16:creationId xmlns:a16="http://schemas.microsoft.com/office/drawing/2014/main" id="{D962A271-D2B5-DC60-5125-2CF4BD1762EE}"/>
              </a:ext>
            </a:extLst>
          </p:cNvPr>
          <p:cNvSpPr txBox="1"/>
          <p:nvPr/>
        </p:nvSpPr>
        <p:spPr>
          <a:xfrm>
            <a:off x="956642" y="5094094"/>
            <a:ext cx="3810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(n=6)</a:t>
            </a:r>
            <a:endParaRPr kumimoji="1" lang="en-US" altLang="ja-JP" sz="6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5" name="テキスト ボックス 764">
            <a:extLst>
              <a:ext uri="{FF2B5EF4-FFF2-40B4-BE49-F238E27FC236}">
                <a16:creationId xmlns:a16="http://schemas.microsoft.com/office/drawing/2014/main" id="{E2505C7F-CCF4-23AD-EC95-735AB6A46075}"/>
              </a:ext>
            </a:extLst>
          </p:cNvPr>
          <p:cNvSpPr txBox="1"/>
          <p:nvPr/>
        </p:nvSpPr>
        <p:spPr>
          <a:xfrm>
            <a:off x="831587" y="5235190"/>
            <a:ext cx="63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EEG</a:t>
            </a:r>
          </a:p>
        </p:txBody>
      </p:sp>
      <p:sp>
        <p:nvSpPr>
          <p:cNvPr id="766" name="テキスト ボックス 765">
            <a:extLst>
              <a:ext uri="{FF2B5EF4-FFF2-40B4-BE49-F238E27FC236}">
                <a16:creationId xmlns:a16="http://schemas.microsoft.com/office/drawing/2014/main" id="{99604A61-1E14-F72C-67EA-A547C9497480}"/>
              </a:ext>
            </a:extLst>
          </p:cNvPr>
          <p:cNvSpPr txBox="1"/>
          <p:nvPr/>
        </p:nvSpPr>
        <p:spPr>
          <a:xfrm>
            <a:off x="956642" y="5365112"/>
            <a:ext cx="3810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(n=3)</a:t>
            </a:r>
            <a:endParaRPr kumimoji="1" lang="en-US" altLang="ja-JP" sz="6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7" name="テキスト ボックス 766">
            <a:extLst>
              <a:ext uri="{FF2B5EF4-FFF2-40B4-BE49-F238E27FC236}">
                <a16:creationId xmlns:a16="http://schemas.microsoft.com/office/drawing/2014/main" id="{7AB90746-2ABE-B829-8ACC-48A06723966D}"/>
              </a:ext>
            </a:extLst>
          </p:cNvPr>
          <p:cNvSpPr txBox="1"/>
          <p:nvPr/>
        </p:nvSpPr>
        <p:spPr>
          <a:xfrm>
            <a:off x="831742" y="5596726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9" name="テキスト ボックス 768">
            <a:extLst>
              <a:ext uri="{FF2B5EF4-FFF2-40B4-BE49-F238E27FC236}">
                <a16:creationId xmlns:a16="http://schemas.microsoft.com/office/drawing/2014/main" id="{025C0604-26E8-8ADF-4D2F-F0DD8499BD4A}"/>
              </a:ext>
            </a:extLst>
          </p:cNvPr>
          <p:cNvSpPr txBox="1"/>
          <p:nvPr/>
        </p:nvSpPr>
        <p:spPr>
          <a:xfrm>
            <a:off x="3999437" y="682112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Linear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0" name="テキスト ボックス 769">
            <a:extLst>
              <a:ext uri="{FF2B5EF4-FFF2-40B4-BE49-F238E27FC236}">
                <a16:creationId xmlns:a16="http://schemas.microsoft.com/office/drawing/2014/main" id="{F0EDCB5F-1BFF-B07D-A578-A461A066F2EF}"/>
              </a:ext>
            </a:extLst>
          </p:cNvPr>
          <p:cNvSpPr txBox="1"/>
          <p:nvPr/>
        </p:nvSpPr>
        <p:spPr>
          <a:xfrm>
            <a:off x="3897682" y="1906153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Gaussian</a:t>
            </a:r>
            <a:endParaRPr kumimoji="1" lang="en-US" altLang="ja-JP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(n=29)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1" name="テキスト ボックス 770">
            <a:extLst>
              <a:ext uri="{FF2B5EF4-FFF2-40B4-BE49-F238E27FC236}">
                <a16:creationId xmlns:a16="http://schemas.microsoft.com/office/drawing/2014/main" id="{24248C9A-05E8-AFB7-833C-33E81B04B8D2}"/>
              </a:ext>
            </a:extLst>
          </p:cNvPr>
          <p:cNvSpPr txBox="1"/>
          <p:nvPr/>
        </p:nvSpPr>
        <p:spPr>
          <a:xfrm>
            <a:off x="3897682" y="3035581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GAMLSS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5" name="フリーフォーム: 図形 754">
            <a:extLst>
              <a:ext uri="{FF2B5EF4-FFF2-40B4-BE49-F238E27FC236}">
                <a16:creationId xmlns:a16="http://schemas.microsoft.com/office/drawing/2014/main" id="{8CD7F7B0-28F8-A73A-3A6B-63D1AC2DD14D}"/>
              </a:ext>
            </a:extLst>
          </p:cNvPr>
          <p:cNvSpPr/>
          <p:nvPr/>
        </p:nvSpPr>
        <p:spPr>
          <a:xfrm>
            <a:off x="3988091" y="3776367"/>
            <a:ext cx="653640" cy="655552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2" name="テキスト ボックス 771">
            <a:extLst>
              <a:ext uri="{FF2B5EF4-FFF2-40B4-BE49-F238E27FC236}">
                <a16:creationId xmlns:a16="http://schemas.microsoft.com/office/drawing/2014/main" id="{52849B70-C305-42A8-8BE6-D4AD1E0C9013}"/>
              </a:ext>
            </a:extLst>
          </p:cNvPr>
          <p:cNvSpPr txBox="1"/>
          <p:nvPr/>
        </p:nvSpPr>
        <p:spPr>
          <a:xfrm>
            <a:off x="3887072" y="3873311"/>
            <a:ext cx="85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HierBayes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6" name="テキスト ボックス 775">
            <a:extLst>
              <a:ext uri="{FF2B5EF4-FFF2-40B4-BE49-F238E27FC236}">
                <a16:creationId xmlns:a16="http://schemas.microsoft.com/office/drawing/2014/main" id="{AAC7DC65-A724-B7AD-9CB3-641FD5C4B707}"/>
              </a:ext>
            </a:extLst>
          </p:cNvPr>
          <p:cNvSpPr txBox="1"/>
          <p:nvPr/>
        </p:nvSpPr>
        <p:spPr>
          <a:xfrm>
            <a:off x="3905621" y="4511531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DeepGen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7" name="テキスト ボックス 776">
            <a:extLst>
              <a:ext uri="{FF2B5EF4-FFF2-40B4-BE49-F238E27FC236}">
                <a16:creationId xmlns:a16="http://schemas.microsoft.com/office/drawing/2014/main" id="{08E1CABB-D727-F0D5-6DC6-665DA4A3B860}"/>
              </a:ext>
            </a:extLst>
          </p:cNvPr>
          <p:cNvSpPr txBox="1"/>
          <p:nvPr/>
        </p:nvSpPr>
        <p:spPr>
          <a:xfrm>
            <a:off x="3899267" y="5341964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8" name="フリーフォーム: 図形 777">
            <a:extLst>
              <a:ext uri="{FF2B5EF4-FFF2-40B4-BE49-F238E27FC236}">
                <a16:creationId xmlns:a16="http://schemas.microsoft.com/office/drawing/2014/main" id="{97B1791A-BD88-1761-A6A6-169DB5D96749}"/>
              </a:ext>
            </a:extLst>
          </p:cNvPr>
          <p:cNvSpPr/>
          <p:nvPr/>
        </p:nvSpPr>
        <p:spPr>
          <a:xfrm>
            <a:off x="7209354" y="390183"/>
            <a:ext cx="653640" cy="4730616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9" name="テキスト ボックス 778">
            <a:extLst>
              <a:ext uri="{FF2B5EF4-FFF2-40B4-BE49-F238E27FC236}">
                <a16:creationId xmlns:a16="http://schemas.microsoft.com/office/drawing/2014/main" id="{27B4E122-FB36-AABF-D471-4E562AF90586}"/>
              </a:ext>
            </a:extLst>
          </p:cNvPr>
          <p:cNvSpPr txBox="1"/>
          <p:nvPr/>
        </p:nvSpPr>
        <p:spPr>
          <a:xfrm>
            <a:off x="7166623" y="2533700"/>
            <a:ext cx="73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</a:t>
            </a:r>
            <a:endParaRPr kumimoji="1" lang="en-US" altLang="ja-JP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(n=104)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0" name="フリーフォーム: 図形 779">
            <a:extLst>
              <a:ext uri="{FF2B5EF4-FFF2-40B4-BE49-F238E27FC236}">
                <a16:creationId xmlns:a16="http://schemas.microsoft.com/office/drawing/2014/main" id="{2ECBD710-C7EB-E595-C6BB-230CC65A7A2D}"/>
              </a:ext>
            </a:extLst>
          </p:cNvPr>
          <p:cNvSpPr/>
          <p:nvPr/>
        </p:nvSpPr>
        <p:spPr>
          <a:xfrm>
            <a:off x="7209354" y="5245437"/>
            <a:ext cx="653640" cy="887324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1" name="テキスト ボックス 780">
            <a:extLst>
              <a:ext uri="{FF2B5EF4-FFF2-40B4-BE49-F238E27FC236}">
                <a16:creationId xmlns:a16="http://schemas.microsoft.com/office/drawing/2014/main" id="{AC7181D2-C1C0-A4DD-E9D7-B5033B1CC7B9}"/>
              </a:ext>
            </a:extLst>
          </p:cNvPr>
          <p:cNvSpPr txBox="1"/>
          <p:nvPr/>
        </p:nvSpPr>
        <p:spPr>
          <a:xfrm>
            <a:off x="7181132" y="5336331"/>
            <a:ext cx="70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Pre-</a:t>
            </a:r>
            <a:b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existing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2" name="フリーフォーム: 図形 781">
            <a:extLst>
              <a:ext uri="{FF2B5EF4-FFF2-40B4-BE49-F238E27FC236}">
                <a16:creationId xmlns:a16="http://schemas.microsoft.com/office/drawing/2014/main" id="{F5A599D0-48C8-A801-9956-26996C4ACE1F}"/>
              </a:ext>
            </a:extLst>
          </p:cNvPr>
          <p:cNvSpPr/>
          <p:nvPr/>
        </p:nvSpPr>
        <p:spPr>
          <a:xfrm>
            <a:off x="10428920" y="352789"/>
            <a:ext cx="879320" cy="3858276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3" name="テキスト ボックス 782">
            <a:extLst>
              <a:ext uri="{FF2B5EF4-FFF2-40B4-BE49-F238E27FC236}">
                <a16:creationId xmlns:a16="http://schemas.microsoft.com/office/drawing/2014/main" id="{D82C1CF6-96D9-7275-7451-7C78BE92019B}"/>
              </a:ext>
            </a:extLst>
          </p:cNvPr>
          <p:cNvSpPr txBox="1"/>
          <p:nvPr/>
        </p:nvSpPr>
        <p:spPr>
          <a:xfrm>
            <a:off x="10398966" y="2045997"/>
            <a:ext cx="93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Psychiatric</a:t>
            </a:r>
            <a:b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4" name="フリーフォーム: 図形 783">
            <a:extLst>
              <a:ext uri="{FF2B5EF4-FFF2-40B4-BE49-F238E27FC236}">
                <a16:creationId xmlns:a16="http://schemas.microsoft.com/office/drawing/2014/main" id="{34AA5E27-9182-98E7-7113-D202453546E1}"/>
              </a:ext>
            </a:extLst>
          </p:cNvPr>
          <p:cNvSpPr/>
          <p:nvPr/>
        </p:nvSpPr>
        <p:spPr>
          <a:xfrm>
            <a:off x="10427404" y="4308835"/>
            <a:ext cx="879320" cy="1388930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5" name="テキスト ボックス 784">
            <a:extLst>
              <a:ext uri="{FF2B5EF4-FFF2-40B4-BE49-F238E27FC236}">
                <a16:creationId xmlns:a16="http://schemas.microsoft.com/office/drawing/2014/main" id="{F3CDC67D-CDE7-88E2-FE31-C776C6AD1C83}"/>
              </a:ext>
            </a:extLst>
          </p:cNvPr>
          <p:cNvSpPr txBox="1"/>
          <p:nvPr/>
        </p:nvSpPr>
        <p:spPr>
          <a:xfrm>
            <a:off x="10338567" y="4772468"/>
            <a:ext cx="1056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Neurological</a:t>
            </a:r>
            <a:b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(n=31)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6" name="フリーフォーム: 図形 785">
            <a:extLst>
              <a:ext uri="{FF2B5EF4-FFF2-40B4-BE49-F238E27FC236}">
                <a16:creationId xmlns:a16="http://schemas.microsoft.com/office/drawing/2014/main" id="{D10F207D-EC17-1620-01C1-AB2F320B7F22}"/>
              </a:ext>
            </a:extLst>
          </p:cNvPr>
          <p:cNvSpPr/>
          <p:nvPr/>
        </p:nvSpPr>
        <p:spPr>
          <a:xfrm>
            <a:off x="10427405" y="5797974"/>
            <a:ext cx="879320" cy="331067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7" name="テキスト ボックス 786">
            <a:extLst>
              <a:ext uri="{FF2B5EF4-FFF2-40B4-BE49-F238E27FC236}">
                <a16:creationId xmlns:a16="http://schemas.microsoft.com/office/drawing/2014/main" id="{456EF506-AF0B-3764-BFC7-A7025104E8EA}"/>
              </a:ext>
            </a:extLst>
          </p:cNvPr>
          <p:cNvSpPr txBox="1"/>
          <p:nvPr/>
        </p:nvSpPr>
        <p:spPr>
          <a:xfrm>
            <a:off x="10599775" y="5754416"/>
            <a:ext cx="534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Both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8" name="テキスト ボックス 787">
            <a:extLst>
              <a:ext uri="{FF2B5EF4-FFF2-40B4-BE49-F238E27FC236}">
                <a16:creationId xmlns:a16="http://schemas.microsoft.com/office/drawing/2014/main" id="{94CB2535-28E6-A9FF-541B-E68A519E8948}"/>
              </a:ext>
            </a:extLst>
          </p:cNvPr>
          <p:cNvSpPr txBox="1"/>
          <p:nvPr/>
        </p:nvSpPr>
        <p:spPr>
          <a:xfrm>
            <a:off x="10346125" y="5889931"/>
            <a:ext cx="1063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73FAF4-779F-68A2-D100-595D074F0458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0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47104-37BC-2A39-07A1-A72801CF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BF8E3D4-7F41-43A9-CCF3-D1BE41F88550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8D398E-6985-FB08-EAEF-E74EEB39C053}"/>
              </a:ext>
            </a:extLst>
          </p:cNvPr>
          <p:cNvSpPr txBox="1"/>
          <p:nvPr/>
        </p:nvSpPr>
        <p:spPr>
          <a:xfrm>
            <a:off x="2165560" y="6274013"/>
            <a:ext cx="78608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臨床応用は、統合失調症・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r>
              <a:rPr lang="ja-JP" altLang="en-US" sz="2000" dirty="0">
                <a:solidFill>
                  <a:srgbClr val="374151"/>
                </a:solidFill>
              </a:rPr>
              <a:t>の構造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  <a:r>
              <a:rPr lang="ja-JP" altLang="en-US" sz="2000" dirty="0">
                <a:solidFill>
                  <a:srgbClr val="374151"/>
                </a:solidFill>
              </a:rPr>
              <a:t>研究に偏重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F5A374-CE85-6664-AF32-C2BC3F9A7690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672258-8656-097C-91B2-8B001396047D}"/>
              </a:ext>
            </a:extLst>
          </p:cNvPr>
          <p:cNvSpPr/>
          <p:nvPr/>
        </p:nvSpPr>
        <p:spPr>
          <a:xfrm>
            <a:off x="4039387" y="1017292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1FC7CFB-0E41-D7F1-4F32-34441689549A}"/>
              </a:ext>
            </a:extLst>
          </p:cNvPr>
          <p:cNvSpPr/>
          <p:nvPr/>
        </p:nvSpPr>
        <p:spPr>
          <a:xfrm>
            <a:off x="7316830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570C6C-ACD0-A808-A284-F2323F1768AC}"/>
              </a:ext>
            </a:extLst>
          </p:cNvPr>
          <p:cNvSpPr/>
          <p:nvPr/>
        </p:nvSpPr>
        <p:spPr>
          <a:xfrm>
            <a:off x="4955806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AE09C6-8049-DC2C-A8E3-D1ECD82EE703}"/>
              </a:ext>
            </a:extLst>
          </p:cNvPr>
          <p:cNvSpPr/>
          <p:nvPr/>
        </p:nvSpPr>
        <p:spPr>
          <a:xfrm>
            <a:off x="5872224" y="1017292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72FE1E7-A7A4-7909-1E4F-CC0D945A537E}"/>
              </a:ext>
            </a:extLst>
          </p:cNvPr>
          <p:cNvSpPr/>
          <p:nvPr/>
        </p:nvSpPr>
        <p:spPr>
          <a:xfrm>
            <a:off x="10060980" y="1009371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9C689A-917B-2407-4719-A4E9C89F6264}"/>
              </a:ext>
            </a:extLst>
          </p:cNvPr>
          <p:cNvSpPr/>
          <p:nvPr/>
        </p:nvSpPr>
        <p:spPr>
          <a:xfrm>
            <a:off x="8231547" y="1017292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8B2E9FD-C436-B518-4E8C-0DE6C44CBD98}"/>
              </a:ext>
            </a:extLst>
          </p:cNvPr>
          <p:cNvSpPr/>
          <p:nvPr/>
        </p:nvSpPr>
        <p:spPr>
          <a:xfrm>
            <a:off x="9146264" y="1017292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E190E8D-63C7-FF8C-9DA4-B14B3CE6B92B}"/>
              </a:ext>
            </a:extLst>
          </p:cNvPr>
          <p:cNvSpPr/>
          <p:nvPr/>
        </p:nvSpPr>
        <p:spPr>
          <a:xfrm>
            <a:off x="3122968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B9F7A3F-513C-9076-8CCC-BDDB3C751B51}"/>
              </a:ext>
            </a:extLst>
          </p:cNvPr>
          <p:cNvSpPr/>
          <p:nvPr/>
        </p:nvSpPr>
        <p:spPr>
          <a:xfrm>
            <a:off x="2206549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3FF299E-F004-339C-4536-A672AD049CD6}"/>
              </a:ext>
            </a:extLst>
          </p:cNvPr>
          <p:cNvSpPr txBox="1"/>
          <p:nvPr/>
        </p:nvSpPr>
        <p:spPr>
          <a:xfrm>
            <a:off x="1154407" y="1188739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sMRI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6405880-EED9-8F25-CE43-786E6596F705}"/>
              </a:ext>
            </a:extLst>
          </p:cNvPr>
          <p:cNvSpPr txBox="1"/>
          <p:nvPr/>
        </p:nvSpPr>
        <p:spPr>
          <a:xfrm>
            <a:off x="2217237" y="587512"/>
            <a:ext cx="82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SCZ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26304FE-3CBC-4C0E-3391-8876B80D5356}"/>
              </a:ext>
            </a:extLst>
          </p:cNvPr>
          <p:cNvSpPr txBox="1"/>
          <p:nvPr/>
        </p:nvSpPr>
        <p:spPr>
          <a:xfrm>
            <a:off x="1154407" y="1983240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fMRI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35FD267-5774-0E64-B94F-D8094750D666}"/>
              </a:ext>
            </a:extLst>
          </p:cNvPr>
          <p:cNvSpPr txBox="1"/>
          <p:nvPr/>
        </p:nvSpPr>
        <p:spPr>
          <a:xfrm>
            <a:off x="1154407" y="2777741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dMRI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6F69055-55B3-75EE-08BD-72C4F7841B6E}"/>
              </a:ext>
            </a:extLst>
          </p:cNvPr>
          <p:cNvSpPr txBox="1"/>
          <p:nvPr/>
        </p:nvSpPr>
        <p:spPr>
          <a:xfrm>
            <a:off x="1154407" y="3572242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EEG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E53BF9C-55C9-FD47-91BC-CC821DE0C8CF}"/>
              </a:ext>
            </a:extLst>
          </p:cNvPr>
          <p:cNvSpPr txBox="1"/>
          <p:nvPr/>
        </p:nvSpPr>
        <p:spPr>
          <a:xfrm>
            <a:off x="1154407" y="4366743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ix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BD1DFE2-C2B6-4205-7178-02F521892AB2}"/>
              </a:ext>
            </a:extLst>
          </p:cNvPr>
          <p:cNvSpPr txBox="1"/>
          <p:nvPr/>
        </p:nvSpPr>
        <p:spPr>
          <a:xfrm>
            <a:off x="1154407" y="5167672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9CA9125-D357-4D3A-DE17-771CD8A468B1}"/>
              </a:ext>
            </a:extLst>
          </p:cNvPr>
          <p:cNvSpPr/>
          <p:nvPr/>
        </p:nvSpPr>
        <p:spPr>
          <a:xfrm>
            <a:off x="4039387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AECEDA6-A5BA-FCF4-0F0E-A81D6EABE85C}"/>
              </a:ext>
            </a:extLst>
          </p:cNvPr>
          <p:cNvSpPr/>
          <p:nvPr/>
        </p:nvSpPr>
        <p:spPr>
          <a:xfrm>
            <a:off x="7316830" y="1812463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AA3E434B-380F-6F67-3153-3C66878A4A0A}"/>
              </a:ext>
            </a:extLst>
          </p:cNvPr>
          <p:cNvSpPr/>
          <p:nvPr/>
        </p:nvSpPr>
        <p:spPr>
          <a:xfrm>
            <a:off x="4955806" y="181179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3A17571C-DCF2-D4ED-83C1-0C1972BE2909}"/>
              </a:ext>
            </a:extLst>
          </p:cNvPr>
          <p:cNvSpPr/>
          <p:nvPr/>
        </p:nvSpPr>
        <p:spPr>
          <a:xfrm>
            <a:off x="5872224" y="181179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84092E86-3855-40DB-FDAD-E0926FD085E9}"/>
              </a:ext>
            </a:extLst>
          </p:cNvPr>
          <p:cNvSpPr/>
          <p:nvPr/>
        </p:nvSpPr>
        <p:spPr>
          <a:xfrm>
            <a:off x="10060980" y="1812463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CDA340D4-5639-EC93-1706-278985E859F9}"/>
              </a:ext>
            </a:extLst>
          </p:cNvPr>
          <p:cNvSpPr/>
          <p:nvPr/>
        </p:nvSpPr>
        <p:spPr>
          <a:xfrm>
            <a:off x="8231547" y="181246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62A37F6C-118F-C68B-F736-B5F4AEBB1F31}"/>
              </a:ext>
            </a:extLst>
          </p:cNvPr>
          <p:cNvSpPr/>
          <p:nvPr/>
        </p:nvSpPr>
        <p:spPr>
          <a:xfrm>
            <a:off x="9146264" y="181246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D9F3736F-A5C6-DAEA-326D-DE96A2E21AA0}"/>
              </a:ext>
            </a:extLst>
          </p:cNvPr>
          <p:cNvSpPr/>
          <p:nvPr/>
        </p:nvSpPr>
        <p:spPr>
          <a:xfrm>
            <a:off x="3122968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6CBA662-D822-B637-9035-141D26EE8DC7}"/>
              </a:ext>
            </a:extLst>
          </p:cNvPr>
          <p:cNvSpPr/>
          <p:nvPr/>
        </p:nvSpPr>
        <p:spPr>
          <a:xfrm>
            <a:off x="2206549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FFAF4AF0-69DA-518F-2A16-318F3EAD07C1}"/>
              </a:ext>
            </a:extLst>
          </p:cNvPr>
          <p:cNvSpPr/>
          <p:nvPr/>
        </p:nvSpPr>
        <p:spPr>
          <a:xfrm>
            <a:off x="4039387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C8A8388-C6FC-F3D8-59FE-EFCD4B469B3E}"/>
              </a:ext>
            </a:extLst>
          </p:cNvPr>
          <p:cNvSpPr/>
          <p:nvPr/>
        </p:nvSpPr>
        <p:spPr>
          <a:xfrm>
            <a:off x="7316830" y="260763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AA1B49BF-CFE5-D423-614C-E62F1FEB4D7C}"/>
              </a:ext>
            </a:extLst>
          </p:cNvPr>
          <p:cNvSpPr/>
          <p:nvPr/>
        </p:nvSpPr>
        <p:spPr>
          <a:xfrm>
            <a:off x="4955806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994E7A7F-9366-84E4-AA75-EAAF65B14326}"/>
              </a:ext>
            </a:extLst>
          </p:cNvPr>
          <p:cNvSpPr/>
          <p:nvPr/>
        </p:nvSpPr>
        <p:spPr>
          <a:xfrm>
            <a:off x="5872224" y="260629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97C715F7-AFC4-F16B-B6D2-DB4189DE7F59}"/>
              </a:ext>
            </a:extLst>
          </p:cNvPr>
          <p:cNvSpPr/>
          <p:nvPr/>
        </p:nvSpPr>
        <p:spPr>
          <a:xfrm>
            <a:off x="10060980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0836330C-D946-CBD1-E160-A4FE54F7746A}"/>
              </a:ext>
            </a:extLst>
          </p:cNvPr>
          <p:cNvSpPr/>
          <p:nvPr/>
        </p:nvSpPr>
        <p:spPr>
          <a:xfrm>
            <a:off x="8231547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5226DA8C-DABD-2BED-C624-52D5EBF38E93}"/>
              </a:ext>
            </a:extLst>
          </p:cNvPr>
          <p:cNvSpPr/>
          <p:nvPr/>
        </p:nvSpPr>
        <p:spPr>
          <a:xfrm>
            <a:off x="9146264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6022A6FE-D278-AD60-0456-683AF2B06B31}"/>
              </a:ext>
            </a:extLst>
          </p:cNvPr>
          <p:cNvSpPr/>
          <p:nvPr/>
        </p:nvSpPr>
        <p:spPr>
          <a:xfrm>
            <a:off x="3122968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24FE3D72-988E-2299-339F-E59396A10009}"/>
              </a:ext>
            </a:extLst>
          </p:cNvPr>
          <p:cNvSpPr/>
          <p:nvPr/>
        </p:nvSpPr>
        <p:spPr>
          <a:xfrm>
            <a:off x="2206549" y="260629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723DFCF6-5D64-B61D-31E3-3B18261A07F0}"/>
              </a:ext>
            </a:extLst>
          </p:cNvPr>
          <p:cNvSpPr/>
          <p:nvPr/>
        </p:nvSpPr>
        <p:spPr>
          <a:xfrm>
            <a:off x="4039387" y="3400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7D99A682-C52E-959D-0063-86B2710E6E0E}"/>
              </a:ext>
            </a:extLst>
          </p:cNvPr>
          <p:cNvSpPr/>
          <p:nvPr/>
        </p:nvSpPr>
        <p:spPr>
          <a:xfrm>
            <a:off x="7316830" y="340280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A7A7A80D-1873-A8FF-FF34-EE2EA308B8C7}"/>
              </a:ext>
            </a:extLst>
          </p:cNvPr>
          <p:cNvSpPr/>
          <p:nvPr/>
        </p:nvSpPr>
        <p:spPr>
          <a:xfrm>
            <a:off x="4955806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20A44756-4627-AF5E-6575-0525984FF058}"/>
              </a:ext>
            </a:extLst>
          </p:cNvPr>
          <p:cNvSpPr/>
          <p:nvPr/>
        </p:nvSpPr>
        <p:spPr>
          <a:xfrm>
            <a:off x="5872224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3141984-67B7-1761-61D4-309095372A57}"/>
              </a:ext>
            </a:extLst>
          </p:cNvPr>
          <p:cNvSpPr/>
          <p:nvPr/>
        </p:nvSpPr>
        <p:spPr>
          <a:xfrm>
            <a:off x="10060980" y="340280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2E4D8410-E811-FAAB-DA0C-BE0746492AF9}"/>
              </a:ext>
            </a:extLst>
          </p:cNvPr>
          <p:cNvSpPr/>
          <p:nvPr/>
        </p:nvSpPr>
        <p:spPr>
          <a:xfrm>
            <a:off x="8231547" y="340280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C4E5087-4593-881D-DBE9-03FA4075D70E}"/>
              </a:ext>
            </a:extLst>
          </p:cNvPr>
          <p:cNvSpPr/>
          <p:nvPr/>
        </p:nvSpPr>
        <p:spPr>
          <a:xfrm>
            <a:off x="9146264" y="340280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880A75C-CAB2-FB6C-FDBC-1AA386DC7DC6}"/>
              </a:ext>
            </a:extLst>
          </p:cNvPr>
          <p:cNvSpPr/>
          <p:nvPr/>
        </p:nvSpPr>
        <p:spPr>
          <a:xfrm>
            <a:off x="3122968" y="3400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1CB10FAC-A701-1AF2-C4C7-5FE2DF01301C}"/>
              </a:ext>
            </a:extLst>
          </p:cNvPr>
          <p:cNvSpPr/>
          <p:nvPr/>
        </p:nvSpPr>
        <p:spPr>
          <a:xfrm>
            <a:off x="2206549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3F8CCA7D-81FF-A576-399D-CDCDB98166FE}"/>
              </a:ext>
            </a:extLst>
          </p:cNvPr>
          <p:cNvSpPr/>
          <p:nvPr/>
        </p:nvSpPr>
        <p:spPr>
          <a:xfrm>
            <a:off x="4039387" y="419529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9508ECF3-10FB-66D9-4A62-D45A64CA3A76}"/>
              </a:ext>
            </a:extLst>
          </p:cNvPr>
          <p:cNvSpPr/>
          <p:nvPr/>
        </p:nvSpPr>
        <p:spPr>
          <a:xfrm>
            <a:off x="7316830" y="419797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56D22E6-831B-018D-44D7-72B3D79EEC23}"/>
              </a:ext>
            </a:extLst>
          </p:cNvPr>
          <p:cNvSpPr/>
          <p:nvPr/>
        </p:nvSpPr>
        <p:spPr>
          <a:xfrm>
            <a:off x="4955806" y="419529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47B32E98-E18A-6799-DAB8-4B11650E42D2}"/>
              </a:ext>
            </a:extLst>
          </p:cNvPr>
          <p:cNvSpPr/>
          <p:nvPr/>
        </p:nvSpPr>
        <p:spPr>
          <a:xfrm>
            <a:off x="5872224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DB5D10BA-0D74-ED2B-5D73-64834F37B27D}"/>
              </a:ext>
            </a:extLst>
          </p:cNvPr>
          <p:cNvSpPr/>
          <p:nvPr/>
        </p:nvSpPr>
        <p:spPr>
          <a:xfrm>
            <a:off x="10060980" y="419797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543916A-9D31-F1DA-D4D5-93F4F686DAC4}"/>
              </a:ext>
            </a:extLst>
          </p:cNvPr>
          <p:cNvSpPr/>
          <p:nvPr/>
        </p:nvSpPr>
        <p:spPr>
          <a:xfrm>
            <a:off x="8231547" y="419797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DBDBBC48-C928-643C-12D3-116D24ECD08C}"/>
              </a:ext>
            </a:extLst>
          </p:cNvPr>
          <p:cNvSpPr/>
          <p:nvPr/>
        </p:nvSpPr>
        <p:spPr>
          <a:xfrm>
            <a:off x="9146264" y="419797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55792150-8950-2914-B17E-2E9D4492F248}"/>
              </a:ext>
            </a:extLst>
          </p:cNvPr>
          <p:cNvSpPr/>
          <p:nvPr/>
        </p:nvSpPr>
        <p:spPr>
          <a:xfrm>
            <a:off x="3122968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4A0F0F1D-9462-F3C4-24DD-254B44024600}"/>
              </a:ext>
            </a:extLst>
          </p:cNvPr>
          <p:cNvSpPr/>
          <p:nvPr/>
        </p:nvSpPr>
        <p:spPr>
          <a:xfrm>
            <a:off x="2206549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FC89182F-E21E-4C0F-EBBB-7C73383FA392}"/>
              </a:ext>
            </a:extLst>
          </p:cNvPr>
          <p:cNvSpPr/>
          <p:nvPr/>
        </p:nvSpPr>
        <p:spPr>
          <a:xfrm>
            <a:off x="4039387" y="4989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327ECC77-8E3E-57CF-386E-CB79E5C48422}"/>
              </a:ext>
            </a:extLst>
          </p:cNvPr>
          <p:cNvSpPr/>
          <p:nvPr/>
        </p:nvSpPr>
        <p:spPr>
          <a:xfrm>
            <a:off x="7316830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014BA060-2DD1-1523-A0A6-2FCDDFF0542A}"/>
              </a:ext>
            </a:extLst>
          </p:cNvPr>
          <p:cNvSpPr/>
          <p:nvPr/>
        </p:nvSpPr>
        <p:spPr>
          <a:xfrm>
            <a:off x="4955806" y="4989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B47DFF3-1C55-5663-CAAC-75938D045FF7}"/>
              </a:ext>
            </a:extLst>
          </p:cNvPr>
          <p:cNvSpPr/>
          <p:nvPr/>
        </p:nvSpPr>
        <p:spPr>
          <a:xfrm>
            <a:off x="5872224" y="4989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93E9097-BEDA-042B-1246-88BBA5292421}"/>
              </a:ext>
            </a:extLst>
          </p:cNvPr>
          <p:cNvSpPr/>
          <p:nvPr/>
        </p:nvSpPr>
        <p:spPr>
          <a:xfrm>
            <a:off x="10060980" y="499314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279159AD-F5F9-3173-C43B-3D8A7E903F89}"/>
              </a:ext>
            </a:extLst>
          </p:cNvPr>
          <p:cNvSpPr/>
          <p:nvPr/>
        </p:nvSpPr>
        <p:spPr>
          <a:xfrm>
            <a:off x="8231547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4D100C60-F5AB-FA0B-BD27-CD03A028097E}"/>
              </a:ext>
            </a:extLst>
          </p:cNvPr>
          <p:cNvSpPr/>
          <p:nvPr/>
        </p:nvSpPr>
        <p:spPr>
          <a:xfrm>
            <a:off x="9146264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EFB528FD-AA66-8D20-BB75-B9C9CC195817}"/>
              </a:ext>
            </a:extLst>
          </p:cNvPr>
          <p:cNvSpPr/>
          <p:nvPr/>
        </p:nvSpPr>
        <p:spPr>
          <a:xfrm>
            <a:off x="3122968" y="4989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3F55404E-8E96-3BDC-C507-A3DEC41EFEBF}"/>
              </a:ext>
            </a:extLst>
          </p:cNvPr>
          <p:cNvSpPr/>
          <p:nvPr/>
        </p:nvSpPr>
        <p:spPr>
          <a:xfrm>
            <a:off x="2206549" y="499622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4400BC2-71A3-D53C-CC79-AEF4F6D9A5A9}"/>
              </a:ext>
            </a:extLst>
          </p:cNvPr>
          <p:cNvSpPr txBox="1"/>
          <p:nvPr/>
        </p:nvSpPr>
        <p:spPr>
          <a:xfrm>
            <a:off x="3126681" y="587512"/>
            <a:ext cx="82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4D0F2C9F-C24B-1DE4-A391-ADCBC5D0B1F9}"/>
              </a:ext>
            </a:extLst>
          </p:cNvPr>
          <p:cNvSpPr txBox="1"/>
          <p:nvPr/>
        </p:nvSpPr>
        <p:spPr>
          <a:xfrm>
            <a:off x="4057546" y="587512"/>
            <a:ext cx="81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Dep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C1D3251-CEB5-FE5A-DC34-D83C429CA5C8}"/>
              </a:ext>
            </a:extLst>
          </p:cNvPr>
          <p:cNvSpPr txBox="1"/>
          <p:nvPr/>
        </p:nvSpPr>
        <p:spPr>
          <a:xfrm>
            <a:off x="8238243" y="587512"/>
            <a:ext cx="8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PD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202CC50C-ECC6-5F94-DE4A-CB1F73367269}"/>
              </a:ext>
            </a:extLst>
          </p:cNvPr>
          <p:cNvSpPr txBox="1"/>
          <p:nvPr/>
        </p:nvSpPr>
        <p:spPr>
          <a:xfrm>
            <a:off x="4950811" y="587512"/>
            <a:ext cx="82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MDI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3BC2D8D3-5D36-D716-7753-B0E1E72BC552}"/>
              </a:ext>
            </a:extLst>
          </p:cNvPr>
          <p:cNvSpPr txBox="1"/>
          <p:nvPr/>
        </p:nvSpPr>
        <p:spPr>
          <a:xfrm>
            <a:off x="5872224" y="587512"/>
            <a:ext cx="82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1EE7000-2E30-DB2D-BB89-5D8003D11B0C}"/>
              </a:ext>
            </a:extLst>
          </p:cNvPr>
          <p:cNvSpPr txBox="1"/>
          <p:nvPr/>
        </p:nvSpPr>
        <p:spPr>
          <a:xfrm>
            <a:off x="7316830" y="587512"/>
            <a:ext cx="83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AD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3876E3-E83F-A17B-99CD-BE6E949F29C1}"/>
              </a:ext>
            </a:extLst>
          </p:cNvPr>
          <p:cNvSpPr txBox="1"/>
          <p:nvPr/>
        </p:nvSpPr>
        <p:spPr>
          <a:xfrm>
            <a:off x="9149669" y="587512"/>
            <a:ext cx="8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MS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1957DFBE-3ED1-3FB5-0DF5-3346BC3578B1}"/>
              </a:ext>
            </a:extLst>
          </p:cNvPr>
          <p:cNvSpPr txBox="1"/>
          <p:nvPr/>
        </p:nvSpPr>
        <p:spPr>
          <a:xfrm>
            <a:off x="10067792" y="587512"/>
            <a:ext cx="8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B4ECB389-5D73-B200-090A-12A9202621BD}"/>
              </a:ext>
            </a:extLst>
          </p:cNvPr>
          <p:cNvSpPr txBox="1"/>
          <p:nvPr/>
        </p:nvSpPr>
        <p:spPr>
          <a:xfrm>
            <a:off x="1125179" y="5784325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Total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B653BD96-1121-2794-0ED6-43DE79D7C4B5}"/>
              </a:ext>
            </a:extLst>
          </p:cNvPr>
          <p:cNvSpPr/>
          <p:nvPr/>
        </p:nvSpPr>
        <p:spPr>
          <a:xfrm>
            <a:off x="2206550" y="5795130"/>
            <a:ext cx="83495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44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CDBC1E91-7608-1A50-D778-4C57F602FB58}"/>
              </a:ext>
            </a:extLst>
          </p:cNvPr>
          <p:cNvSpPr/>
          <p:nvPr/>
        </p:nvSpPr>
        <p:spPr>
          <a:xfrm>
            <a:off x="3126681" y="5795130"/>
            <a:ext cx="83124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652D1080-4AE5-3BFB-E889-3371549E082F}"/>
              </a:ext>
            </a:extLst>
          </p:cNvPr>
          <p:cNvSpPr/>
          <p:nvPr/>
        </p:nvSpPr>
        <p:spPr>
          <a:xfrm>
            <a:off x="4043102" y="5795130"/>
            <a:ext cx="831246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4E3DA616-838E-AF56-2B7C-D6F9F7CC0665}"/>
              </a:ext>
            </a:extLst>
          </p:cNvPr>
          <p:cNvSpPr/>
          <p:nvPr/>
        </p:nvSpPr>
        <p:spPr>
          <a:xfrm>
            <a:off x="4955806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8290333B-8430-920A-DBEA-06DFDAAAC3DA}"/>
              </a:ext>
            </a:extLst>
          </p:cNvPr>
          <p:cNvSpPr/>
          <p:nvPr/>
        </p:nvSpPr>
        <p:spPr>
          <a:xfrm>
            <a:off x="5874957" y="5795130"/>
            <a:ext cx="83222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F4958151-D651-3198-331A-9BF15004FFF8}"/>
              </a:ext>
            </a:extLst>
          </p:cNvPr>
          <p:cNvSpPr/>
          <p:nvPr/>
        </p:nvSpPr>
        <p:spPr>
          <a:xfrm>
            <a:off x="7323802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23962063-90D8-E582-A0C3-6B3FF89A7C4B}"/>
              </a:ext>
            </a:extLst>
          </p:cNvPr>
          <p:cNvSpPr/>
          <p:nvPr/>
        </p:nvSpPr>
        <p:spPr>
          <a:xfrm>
            <a:off x="8238353" y="5795130"/>
            <a:ext cx="82798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E3AEE574-557D-579E-0B35-7E688134613D}"/>
              </a:ext>
            </a:extLst>
          </p:cNvPr>
          <p:cNvSpPr/>
          <p:nvPr/>
        </p:nvSpPr>
        <p:spPr>
          <a:xfrm>
            <a:off x="9154265" y="5795130"/>
            <a:ext cx="826959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9C326058-182C-022E-13DD-E34498CFB404}"/>
              </a:ext>
            </a:extLst>
          </p:cNvPr>
          <p:cNvSpPr/>
          <p:nvPr/>
        </p:nvSpPr>
        <p:spPr>
          <a:xfrm>
            <a:off x="10060408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01BADC-B7EA-3054-02D1-5AE58D812180}"/>
              </a:ext>
            </a:extLst>
          </p:cNvPr>
          <p:cNvSpPr txBox="1"/>
          <p:nvPr/>
        </p:nvSpPr>
        <p:spPr>
          <a:xfrm>
            <a:off x="2134795" y="166301"/>
            <a:ext cx="457239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Psychiatric Disease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C905B1-CB0A-89DF-C5A4-126493164CFE}"/>
              </a:ext>
            </a:extLst>
          </p:cNvPr>
          <p:cNvSpPr txBox="1"/>
          <p:nvPr/>
        </p:nvSpPr>
        <p:spPr>
          <a:xfrm>
            <a:off x="7316829" y="166301"/>
            <a:ext cx="357911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Neurological Disease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69636-86B7-85E8-F52F-932710309659}"/>
              </a:ext>
            </a:extLst>
          </p:cNvPr>
          <p:cNvSpPr txBox="1"/>
          <p:nvPr/>
        </p:nvSpPr>
        <p:spPr>
          <a:xfrm rot="16200000">
            <a:off x="-1319263" y="3177212"/>
            <a:ext cx="468029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Modality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2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56564-6952-F7D4-8DCE-172965FD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アーチ 140">
            <a:extLst>
              <a:ext uri="{FF2B5EF4-FFF2-40B4-BE49-F238E27FC236}">
                <a16:creationId xmlns:a16="http://schemas.microsoft.com/office/drawing/2014/main" id="{A843787B-9CE8-7EFA-E548-BCDE53D3BFF8}"/>
              </a:ext>
            </a:extLst>
          </p:cNvPr>
          <p:cNvSpPr/>
          <p:nvPr/>
        </p:nvSpPr>
        <p:spPr>
          <a:xfrm>
            <a:off x="1587824" y="1311772"/>
            <a:ext cx="2892842" cy="2892842"/>
          </a:xfrm>
          <a:prstGeom prst="blockArc">
            <a:avLst/>
          </a:prstGeom>
          <a:solidFill>
            <a:srgbClr val="F8D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3EC350-F374-7A1A-629E-8CC03D7003F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2E1AF7-9B25-F34B-D497-EB6A43073578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88D3E3-CDF6-3EAD-6F1F-BEA19ED89A2F}"/>
              </a:ext>
            </a:extLst>
          </p:cNvPr>
          <p:cNvSpPr txBox="1"/>
          <p:nvPr/>
        </p:nvSpPr>
        <p:spPr>
          <a:xfrm>
            <a:off x="444608" y="137762"/>
            <a:ext cx="334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A. Validation Components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7B22FA-FDB8-BB94-ABD3-8B241B37661B}"/>
              </a:ext>
            </a:extLst>
          </p:cNvPr>
          <p:cNvSpPr txBox="1"/>
          <p:nvPr/>
        </p:nvSpPr>
        <p:spPr>
          <a:xfrm>
            <a:off x="1587537" y="760245"/>
            <a:ext cx="3300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n/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Performance metrics reported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704E9A-5C3A-FA86-26D8-DC7A7B0037DA}"/>
              </a:ext>
            </a:extLst>
          </p:cNvPr>
          <p:cNvSpPr txBox="1"/>
          <p:nvPr/>
        </p:nvSpPr>
        <p:spPr>
          <a:xfrm>
            <a:off x="6127492" y="137762"/>
            <a:ext cx="334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B. Generalizability Hierarchy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F785F87-F92B-3FD3-D4B9-D57750F046D5}"/>
              </a:ext>
            </a:extLst>
          </p:cNvPr>
          <p:cNvCxnSpPr>
            <a:cxnSpLocks/>
          </p:cNvCxnSpPr>
          <p:nvPr/>
        </p:nvCxnSpPr>
        <p:spPr>
          <a:xfrm>
            <a:off x="5620796" y="186407"/>
            <a:ext cx="0" cy="2724989"/>
          </a:xfrm>
          <a:prstGeom prst="line">
            <a:avLst/>
          </a:prstGeom>
          <a:ln w="285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C320D9B1-485B-2DAC-7B96-79DCE1E6F50B}"/>
              </a:ext>
            </a:extLst>
          </p:cNvPr>
          <p:cNvSpPr txBox="1"/>
          <p:nvPr/>
        </p:nvSpPr>
        <p:spPr>
          <a:xfrm>
            <a:off x="4242308" y="1615023"/>
            <a:ext cx="499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ln/>
                <a:solidFill>
                  <a:srgbClr val="F4BDA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No</a:t>
            </a:r>
            <a:endParaRPr lang="ja-JP" altLang="en-US" sz="1600" b="1" dirty="0">
              <a:ln/>
              <a:solidFill>
                <a:srgbClr val="F4BDA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2" name="アーチ 151">
            <a:extLst>
              <a:ext uri="{FF2B5EF4-FFF2-40B4-BE49-F238E27FC236}">
                <a16:creationId xmlns:a16="http://schemas.microsoft.com/office/drawing/2014/main" id="{D8A35C39-FADB-DFEC-E217-ED02E7E77236}"/>
              </a:ext>
            </a:extLst>
          </p:cNvPr>
          <p:cNvSpPr/>
          <p:nvPr/>
        </p:nvSpPr>
        <p:spPr>
          <a:xfrm>
            <a:off x="1587824" y="1310729"/>
            <a:ext cx="2892842" cy="2892842"/>
          </a:xfrm>
          <a:prstGeom prst="blockArc">
            <a:avLst>
              <a:gd name="adj1" fmla="val 10800000"/>
              <a:gd name="adj2" fmla="val 16045603"/>
              <a:gd name="adj3" fmla="val 18245"/>
            </a:avLst>
          </a:prstGeom>
          <a:solidFill>
            <a:srgbClr val="2E7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1" name="楕円 150">
            <a:extLst>
              <a:ext uri="{FF2B5EF4-FFF2-40B4-BE49-F238E27FC236}">
                <a16:creationId xmlns:a16="http://schemas.microsoft.com/office/drawing/2014/main" id="{52664EE9-5399-3265-2684-84976565F36C}"/>
              </a:ext>
            </a:extLst>
          </p:cNvPr>
          <p:cNvSpPr/>
          <p:nvPr/>
        </p:nvSpPr>
        <p:spPr>
          <a:xfrm>
            <a:off x="2108122" y="1834093"/>
            <a:ext cx="1852246" cy="1852246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58C61906-9C5B-4D74-4D78-F7EAF3F04507}"/>
              </a:ext>
            </a:extLst>
          </p:cNvPr>
          <p:cNvSpPr txBox="1"/>
          <p:nvPr/>
        </p:nvSpPr>
        <p:spPr>
          <a:xfrm>
            <a:off x="2398348" y="2063308"/>
            <a:ext cx="1235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48%</a:t>
            </a:r>
            <a:endParaRPr lang="ja-JP" altLang="en-US" sz="3600" b="1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A386AEFC-9060-864E-070B-C8500FD43EC4}"/>
              </a:ext>
            </a:extLst>
          </p:cNvPr>
          <p:cNvSpPr txBox="1"/>
          <p:nvPr/>
        </p:nvSpPr>
        <p:spPr>
          <a:xfrm>
            <a:off x="2261393" y="2621272"/>
            <a:ext cx="150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60/124 studies</a:t>
            </a:r>
            <a:endParaRPr lang="ja-JP" altLang="en-US" sz="1200" dirty="0">
              <a:ln/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347F8968-20B5-DEB5-FC07-0E62D420EEE2}"/>
              </a:ext>
            </a:extLst>
          </p:cNvPr>
          <p:cNvSpPr txBox="1"/>
          <p:nvPr/>
        </p:nvSpPr>
        <p:spPr>
          <a:xfrm>
            <a:off x="1348945" y="1615023"/>
            <a:ext cx="499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Yes</a:t>
            </a:r>
            <a:endParaRPr lang="ja-JP" altLang="en-US" sz="1600" b="1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CF761ED8-9F7A-6A1F-E179-816D6CB228E4}"/>
              </a:ext>
            </a:extLst>
          </p:cNvPr>
          <p:cNvCxnSpPr>
            <a:cxnSpLocks/>
          </p:cNvCxnSpPr>
          <p:nvPr/>
        </p:nvCxnSpPr>
        <p:spPr>
          <a:xfrm flipV="1">
            <a:off x="6603398" y="827270"/>
            <a:ext cx="0" cy="1997071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6C95098C-95DD-D5BC-B83F-78E89254E692}"/>
              </a:ext>
            </a:extLst>
          </p:cNvPr>
          <p:cNvSpPr txBox="1"/>
          <p:nvPr/>
        </p:nvSpPr>
        <p:spPr>
          <a:xfrm rot="16200000">
            <a:off x="5157461" y="1588479"/>
            <a:ext cx="2368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Increasing validation strength</a:t>
            </a:r>
            <a:endParaRPr lang="ja-JP" altLang="en-US" sz="1200" dirty="0">
              <a:ln/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0" name="フリーフォーム: 図形 189">
            <a:extLst>
              <a:ext uri="{FF2B5EF4-FFF2-40B4-BE49-F238E27FC236}">
                <a16:creationId xmlns:a16="http://schemas.microsoft.com/office/drawing/2014/main" id="{9793D4CE-C15E-CA95-C87C-928DF5B7C8CE}"/>
              </a:ext>
            </a:extLst>
          </p:cNvPr>
          <p:cNvSpPr/>
          <p:nvPr/>
        </p:nvSpPr>
        <p:spPr>
          <a:xfrm>
            <a:off x="6810280" y="860348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3A7D5C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1" name="四角形: 角を丸くする 210">
            <a:extLst>
              <a:ext uri="{FF2B5EF4-FFF2-40B4-BE49-F238E27FC236}">
                <a16:creationId xmlns:a16="http://schemas.microsoft.com/office/drawing/2014/main" id="{3A3C8C4D-419A-1366-27AD-2960EE90F74E}"/>
              </a:ext>
            </a:extLst>
          </p:cNvPr>
          <p:cNvSpPr/>
          <p:nvPr/>
        </p:nvSpPr>
        <p:spPr>
          <a:xfrm>
            <a:off x="7065040" y="838153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54297C01-3E46-640D-7873-F0C44F890EBA}"/>
              </a:ext>
            </a:extLst>
          </p:cNvPr>
          <p:cNvSpPr txBox="1"/>
          <p:nvPr/>
        </p:nvSpPr>
        <p:spPr>
          <a:xfrm>
            <a:off x="10833838" y="803014"/>
            <a:ext cx="1054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n=28 (23%)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6" name="四角形: 角を丸くする 225">
            <a:extLst>
              <a:ext uri="{FF2B5EF4-FFF2-40B4-BE49-F238E27FC236}">
                <a16:creationId xmlns:a16="http://schemas.microsoft.com/office/drawing/2014/main" id="{53CC90A0-3ECB-5AFD-F56F-5EF5E54E1D37}"/>
              </a:ext>
            </a:extLst>
          </p:cNvPr>
          <p:cNvSpPr/>
          <p:nvPr/>
        </p:nvSpPr>
        <p:spPr>
          <a:xfrm>
            <a:off x="7065040" y="838153"/>
            <a:ext cx="1425600" cy="231797"/>
          </a:xfrm>
          <a:prstGeom prst="roundRect">
            <a:avLst/>
          </a:prstGeom>
          <a:solidFill>
            <a:srgbClr val="3A7D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F6763CA3-FA1E-9968-6123-AA3D062F2EEB}"/>
              </a:ext>
            </a:extLst>
          </p:cNvPr>
          <p:cNvSpPr txBox="1"/>
          <p:nvPr/>
        </p:nvSpPr>
        <p:spPr>
          <a:xfrm>
            <a:off x="6992839" y="815657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3: External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4" name="フリーフォーム: 図形 193">
            <a:extLst>
              <a:ext uri="{FF2B5EF4-FFF2-40B4-BE49-F238E27FC236}">
                <a16:creationId xmlns:a16="http://schemas.microsoft.com/office/drawing/2014/main" id="{A046DE4B-73C3-7987-532C-B1D76E92400B}"/>
              </a:ext>
            </a:extLst>
          </p:cNvPr>
          <p:cNvSpPr/>
          <p:nvPr/>
        </p:nvSpPr>
        <p:spPr>
          <a:xfrm>
            <a:off x="6810280" y="1445184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2E7D99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21D29E7F-39A7-7550-EA5F-44CB837D2FF2}"/>
              </a:ext>
            </a:extLst>
          </p:cNvPr>
          <p:cNvSpPr txBox="1"/>
          <p:nvPr/>
        </p:nvSpPr>
        <p:spPr>
          <a:xfrm>
            <a:off x="10833838" y="1387729"/>
            <a:ext cx="105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n=39 (32%)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0" name="四角形: 角を丸くする 219">
            <a:extLst>
              <a:ext uri="{FF2B5EF4-FFF2-40B4-BE49-F238E27FC236}">
                <a16:creationId xmlns:a16="http://schemas.microsoft.com/office/drawing/2014/main" id="{F9886C2A-75F7-0FBB-3487-C3ADBD1A1E9F}"/>
              </a:ext>
            </a:extLst>
          </p:cNvPr>
          <p:cNvSpPr/>
          <p:nvPr/>
        </p:nvSpPr>
        <p:spPr>
          <a:xfrm>
            <a:off x="7065040" y="1421893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四角形: 角を丸くする 224">
            <a:extLst>
              <a:ext uri="{FF2B5EF4-FFF2-40B4-BE49-F238E27FC236}">
                <a16:creationId xmlns:a16="http://schemas.microsoft.com/office/drawing/2014/main" id="{0CC5965A-6C9C-A90D-1ED8-527521AC88A1}"/>
              </a:ext>
            </a:extLst>
          </p:cNvPr>
          <p:cNvSpPr/>
          <p:nvPr/>
        </p:nvSpPr>
        <p:spPr>
          <a:xfrm>
            <a:off x="7065040" y="1421893"/>
            <a:ext cx="1814400" cy="231797"/>
          </a:xfrm>
          <a:prstGeom prst="roundRect">
            <a:avLst/>
          </a:prstGeom>
          <a:solidFill>
            <a:srgbClr val="2E7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0B8F518A-216B-AFC2-6841-92FC2440BBAF}"/>
              </a:ext>
            </a:extLst>
          </p:cNvPr>
          <p:cNvSpPr txBox="1"/>
          <p:nvPr/>
        </p:nvSpPr>
        <p:spPr>
          <a:xfrm>
            <a:off x="6992839" y="1399949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2: CV/LOSO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8" name="フリーフォーム: 図形 197">
            <a:extLst>
              <a:ext uri="{FF2B5EF4-FFF2-40B4-BE49-F238E27FC236}">
                <a16:creationId xmlns:a16="http://schemas.microsoft.com/office/drawing/2014/main" id="{A91A92BE-2A16-03ED-2659-FFB4E9297AEB}"/>
              </a:ext>
            </a:extLst>
          </p:cNvPr>
          <p:cNvSpPr/>
          <p:nvPr/>
        </p:nvSpPr>
        <p:spPr>
          <a:xfrm>
            <a:off x="6810280" y="2024341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D4A54A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D8C2F546-0A16-92E7-1604-90CA8ECCA734}"/>
              </a:ext>
            </a:extLst>
          </p:cNvPr>
          <p:cNvSpPr txBox="1"/>
          <p:nvPr/>
        </p:nvSpPr>
        <p:spPr>
          <a:xfrm>
            <a:off x="10833836" y="1966765"/>
            <a:ext cx="1054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n=24 (19%)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1" name="四角形: 角を丸くする 220">
            <a:extLst>
              <a:ext uri="{FF2B5EF4-FFF2-40B4-BE49-F238E27FC236}">
                <a16:creationId xmlns:a16="http://schemas.microsoft.com/office/drawing/2014/main" id="{08C3115E-1532-D543-22EE-19286DF50EE4}"/>
              </a:ext>
            </a:extLst>
          </p:cNvPr>
          <p:cNvSpPr/>
          <p:nvPr/>
        </p:nvSpPr>
        <p:spPr>
          <a:xfrm>
            <a:off x="7065040" y="1999954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4" name="四角形: 角を丸くする 223">
            <a:extLst>
              <a:ext uri="{FF2B5EF4-FFF2-40B4-BE49-F238E27FC236}">
                <a16:creationId xmlns:a16="http://schemas.microsoft.com/office/drawing/2014/main" id="{84D81092-5E41-7A48-30D2-217EE288475D}"/>
              </a:ext>
            </a:extLst>
          </p:cNvPr>
          <p:cNvSpPr/>
          <p:nvPr/>
        </p:nvSpPr>
        <p:spPr>
          <a:xfrm>
            <a:off x="7065040" y="1999954"/>
            <a:ext cx="1252800" cy="231797"/>
          </a:xfrm>
          <a:prstGeom prst="roundRect">
            <a:avLst/>
          </a:prstGeom>
          <a:solidFill>
            <a:srgbClr val="D4A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3673E50B-BCA8-7889-4594-D9F5EF39E948}"/>
              </a:ext>
            </a:extLst>
          </p:cNvPr>
          <p:cNvSpPr txBox="1"/>
          <p:nvPr/>
        </p:nvSpPr>
        <p:spPr>
          <a:xfrm>
            <a:off x="6992839" y="1977899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1: Hold-out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02" name="フリーフォーム: 図形 201">
            <a:extLst>
              <a:ext uri="{FF2B5EF4-FFF2-40B4-BE49-F238E27FC236}">
                <a16:creationId xmlns:a16="http://schemas.microsoft.com/office/drawing/2014/main" id="{FE4AA8AD-2ED0-BA64-D913-10271B38344B}"/>
              </a:ext>
            </a:extLst>
          </p:cNvPr>
          <p:cNvSpPr/>
          <p:nvPr/>
        </p:nvSpPr>
        <p:spPr>
          <a:xfrm>
            <a:off x="6810280" y="2605039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C85A54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482B8BE0-DF02-C345-57BC-4FC54A49EF9C}"/>
              </a:ext>
            </a:extLst>
          </p:cNvPr>
          <p:cNvSpPr txBox="1"/>
          <p:nvPr/>
        </p:nvSpPr>
        <p:spPr>
          <a:xfrm>
            <a:off x="10833836" y="2547342"/>
            <a:ext cx="1054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n=33 (27%)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2" name="四角形: 角を丸くする 221">
            <a:extLst>
              <a:ext uri="{FF2B5EF4-FFF2-40B4-BE49-F238E27FC236}">
                <a16:creationId xmlns:a16="http://schemas.microsoft.com/office/drawing/2014/main" id="{384F5179-E0DA-8F6D-4137-A0EA86383EA5}"/>
              </a:ext>
            </a:extLst>
          </p:cNvPr>
          <p:cNvSpPr/>
          <p:nvPr/>
        </p:nvSpPr>
        <p:spPr>
          <a:xfrm>
            <a:off x="7065040" y="2579557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四角形: 角を丸くする 222">
            <a:extLst>
              <a:ext uri="{FF2B5EF4-FFF2-40B4-BE49-F238E27FC236}">
                <a16:creationId xmlns:a16="http://schemas.microsoft.com/office/drawing/2014/main" id="{E824215C-3CBC-9DEB-36A4-E8FA570227A6}"/>
              </a:ext>
            </a:extLst>
          </p:cNvPr>
          <p:cNvSpPr/>
          <p:nvPr/>
        </p:nvSpPr>
        <p:spPr>
          <a:xfrm>
            <a:off x="7065040" y="2579557"/>
            <a:ext cx="1598400" cy="231797"/>
          </a:xfrm>
          <a:prstGeom prst="roundRect">
            <a:avLst/>
          </a:prstGeom>
          <a:solidFill>
            <a:srgbClr val="C85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0A69E734-B891-258D-A9EF-C8270755E1D4}"/>
              </a:ext>
            </a:extLst>
          </p:cNvPr>
          <p:cNvSpPr txBox="1"/>
          <p:nvPr/>
        </p:nvSpPr>
        <p:spPr>
          <a:xfrm>
            <a:off x="6992839" y="2557854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0: None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52" name="フリーフォーム: 図形 251">
            <a:extLst>
              <a:ext uri="{FF2B5EF4-FFF2-40B4-BE49-F238E27FC236}">
                <a16:creationId xmlns:a16="http://schemas.microsoft.com/office/drawing/2014/main" id="{E4C765FD-7870-9146-86F5-B20FC0DB88DF}"/>
              </a:ext>
            </a:extLst>
          </p:cNvPr>
          <p:cNvSpPr/>
          <p:nvPr/>
        </p:nvSpPr>
        <p:spPr>
          <a:xfrm>
            <a:off x="3582171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3" name="フリーフォーム: 図形 252">
            <a:extLst>
              <a:ext uri="{FF2B5EF4-FFF2-40B4-BE49-F238E27FC236}">
                <a16:creationId xmlns:a16="http://schemas.microsoft.com/office/drawing/2014/main" id="{39B6B8CF-14AB-24B0-F2D5-19F889B7D208}"/>
              </a:ext>
            </a:extLst>
          </p:cNvPr>
          <p:cNvSpPr/>
          <p:nvPr/>
        </p:nvSpPr>
        <p:spPr>
          <a:xfrm>
            <a:off x="5368108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4" name="フリーフォーム: 図形 253">
            <a:extLst>
              <a:ext uri="{FF2B5EF4-FFF2-40B4-BE49-F238E27FC236}">
                <a16:creationId xmlns:a16="http://schemas.microsoft.com/office/drawing/2014/main" id="{4ACD077E-44CA-D1DC-830F-1E01F74A6F3F}"/>
              </a:ext>
            </a:extLst>
          </p:cNvPr>
          <p:cNvSpPr/>
          <p:nvPr/>
        </p:nvSpPr>
        <p:spPr>
          <a:xfrm>
            <a:off x="7154045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5" name="フリーフォーム: 図形 254">
            <a:extLst>
              <a:ext uri="{FF2B5EF4-FFF2-40B4-BE49-F238E27FC236}">
                <a16:creationId xmlns:a16="http://schemas.microsoft.com/office/drawing/2014/main" id="{84490384-A8DD-02D0-35FD-08C35B49CAAB}"/>
              </a:ext>
            </a:extLst>
          </p:cNvPr>
          <p:cNvSpPr/>
          <p:nvPr/>
        </p:nvSpPr>
        <p:spPr>
          <a:xfrm>
            <a:off x="8939982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6" name="フリーフォーム: 図形 255">
            <a:extLst>
              <a:ext uri="{FF2B5EF4-FFF2-40B4-BE49-F238E27FC236}">
                <a16:creationId xmlns:a16="http://schemas.microsoft.com/office/drawing/2014/main" id="{5715EE16-6ED6-EBAC-4BF1-A9E98520F72D}"/>
              </a:ext>
            </a:extLst>
          </p:cNvPr>
          <p:cNvSpPr/>
          <p:nvPr/>
        </p:nvSpPr>
        <p:spPr>
          <a:xfrm>
            <a:off x="10725921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4" name="フリーフォーム: 図形 263">
            <a:extLst>
              <a:ext uri="{FF2B5EF4-FFF2-40B4-BE49-F238E27FC236}">
                <a16:creationId xmlns:a16="http://schemas.microsoft.com/office/drawing/2014/main" id="{E34E1D7C-A0B2-C4A2-8893-9D1F94B69788}"/>
              </a:ext>
            </a:extLst>
          </p:cNvPr>
          <p:cNvSpPr/>
          <p:nvPr/>
        </p:nvSpPr>
        <p:spPr>
          <a:xfrm>
            <a:off x="4499705" y="3943220"/>
            <a:ext cx="866775" cy="9525"/>
          </a:xfrm>
          <a:custGeom>
            <a:avLst/>
            <a:gdLst>
              <a:gd name="connsiteX0" fmla="*/ 0 w 866775"/>
              <a:gd name="connsiteY0" fmla="*/ 0 h 9525"/>
              <a:gd name="connsiteX1" fmla="*/ 866775 w 8667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5" name="フリーフォーム: 図形 264">
            <a:extLst>
              <a:ext uri="{FF2B5EF4-FFF2-40B4-BE49-F238E27FC236}">
                <a16:creationId xmlns:a16="http://schemas.microsoft.com/office/drawing/2014/main" id="{FE9CD416-B547-7688-4877-F6BA11A75CC0}"/>
              </a:ext>
            </a:extLst>
          </p:cNvPr>
          <p:cNvSpPr/>
          <p:nvPr/>
        </p:nvSpPr>
        <p:spPr>
          <a:xfrm>
            <a:off x="4428267" y="38717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6" name="フリーフォーム: 図形 265">
            <a:extLst>
              <a:ext uri="{FF2B5EF4-FFF2-40B4-BE49-F238E27FC236}">
                <a16:creationId xmlns:a16="http://schemas.microsoft.com/office/drawing/2014/main" id="{4EABC4FE-9A65-917D-11E2-C70F07671AC4}"/>
              </a:ext>
            </a:extLst>
          </p:cNvPr>
          <p:cNvSpPr/>
          <p:nvPr/>
        </p:nvSpPr>
        <p:spPr>
          <a:xfrm>
            <a:off x="5295042" y="38717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1" name="フリーフォーム: 図形 270">
            <a:extLst>
              <a:ext uri="{FF2B5EF4-FFF2-40B4-BE49-F238E27FC236}">
                <a16:creationId xmlns:a16="http://schemas.microsoft.com/office/drawing/2014/main" id="{76C91FFC-1338-82B3-82AD-D9E9B8E6F4E5}"/>
              </a:ext>
            </a:extLst>
          </p:cNvPr>
          <p:cNvSpPr/>
          <p:nvPr/>
        </p:nvSpPr>
        <p:spPr>
          <a:xfrm>
            <a:off x="4720585" y="4487233"/>
            <a:ext cx="3619500" cy="9525"/>
          </a:xfrm>
          <a:custGeom>
            <a:avLst/>
            <a:gdLst>
              <a:gd name="connsiteX0" fmla="*/ 0 w 3619500"/>
              <a:gd name="connsiteY0" fmla="*/ 0 h 9525"/>
              <a:gd name="connsiteX1" fmla="*/ 3619500 w 36195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2" name="フリーフォーム: 図形 271">
            <a:extLst>
              <a:ext uri="{FF2B5EF4-FFF2-40B4-BE49-F238E27FC236}">
                <a16:creationId xmlns:a16="http://schemas.microsoft.com/office/drawing/2014/main" id="{29ACE838-1B1C-BA62-0241-1FC06803670C}"/>
              </a:ext>
            </a:extLst>
          </p:cNvPr>
          <p:cNvSpPr/>
          <p:nvPr/>
        </p:nvSpPr>
        <p:spPr>
          <a:xfrm>
            <a:off x="4649147" y="44157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3" name="フリーフォーム: 図形 272">
            <a:extLst>
              <a:ext uri="{FF2B5EF4-FFF2-40B4-BE49-F238E27FC236}">
                <a16:creationId xmlns:a16="http://schemas.microsoft.com/office/drawing/2014/main" id="{00E1BB65-C527-F32E-C257-98CEA1248EA6}"/>
              </a:ext>
            </a:extLst>
          </p:cNvPr>
          <p:cNvSpPr/>
          <p:nvPr/>
        </p:nvSpPr>
        <p:spPr>
          <a:xfrm>
            <a:off x="8268647" y="44157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8" name="フリーフォーム: 図形 277">
            <a:extLst>
              <a:ext uri="{FF2B5EF4-FFF2-40B4-BE49-F238E27FC236}">
                <a16:creationId xmlns:a16="http://schemas.microsoft.com/office/drawing/2014/main" id="{FC1DE042-B88D-4C10-ECD6-D9C2A5B8AEBB}"/>
              </a:ext>
            </a:extLst>
          </p:cNvPr>
          <p:cNvSpPr/>
          <p:nvPr/>
        </p:nvSpPr>
        <p:spPr>
          <a:xfrm>
            <a:off x="5091720" y="497504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9" name="フリーフォーム: 図形 278">
            <a:extLst>
              <a:ext uri="{FF2B5EF4-FFF2-40B4-BE49-F238E27FC236}">
                <a16:creationId xmlns:a16="http://schemas.microsoft.com/office/drawing/2014/main" id="{C973A51C-E2E5-73BA-5D45-845D12A75192}"/>
              </a:ext>
            </a:extLst>
          </p:cNvPr>
          <p:cNvSpPr/>
          <p:nvPr/>
        </p:nvSpPr>
        <p:spPr>
          <a:xfrm>
            <a:off x="5080328" y="4963648"/>
            <a:ext cx="165659" cy="165659"/>
          </a:xfrm>
          <a:custGeom>
            <a:avLst/>
            <a:gdLst>
              <a:gd name="connsiteX0" fmla="*/ 200025 w 200025"/>
              <a:gd name="connsiteY0" fmla="*/ 100013 h 200025"/>
              <a:gd name="connsiteX1" fmla="*/ 100013 w 200025"/>
              <a:gd name="connsiteY1" fmla="*/ 200025 h 200025"/>
              <a:gd name="connsiteX2" fmla="*/ 0 w 200025"/>
              <a:gd name="connsiteY2" fmla="*/ 100013 h 200025"/>
              <a:gd name="connsiteX3" fmla="*/ 100013 w 200025"/>
              <a:gd name="connsiteY3" fmla="*/ 0 h 200025"/>
              <a:gd name="connsiteX4" fmla="*/ 200025 w 200025"/>
              <a:gd name="connsiteY4" fmla="*/ 100013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25" h="200025">
                <a:moveTo>
                  <a:pt x="200025" y="100013"/>
                </a:moveTo>
                <a:cubicBezTo>
                  <a:pt x="200025" y="155248"/>
                  <a:pt x="155248" y="200025"/>
                  <a:pt x="100013" y="200025"/>
                </a:cubicBezTo>
                <a:cubicBezTo>
                  <a:pt x="44777" y="200025"/>
                  <a:pt x="0" y="155248"/>
                  <a:pt x="0" y="100013"/>
                </a:cubicBezTo>
                <a:cubicBezTo>
                  <a:pt x="0" y="44777"/>
                  <a:pt x="44777" y="0"/>
                  <a:pt x="100013" y="0"/>
                </a:cubicBezTo>
                <a:cubicBezTo>
                  <a:pt x="155248" y="0"/>
                  <a:pt x="200025" y="44777"/>
                  <a:pt x="200025" y="100013"/>
                </a:cubicBezTo>
                <a:close/>
              </a:path>
            </a:pathLst>
          </a:custGeom>
          <a:noFill/>
          <a:ln w="19050" cap="flat">
            <a:solidFill>
              <a:srgbClr val="E8754A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3" name="フリーフォーム: 図形 282">
            <a:extLst>
              <a:ext uri="{FF2B5EF4-FFF2-40B4-BE49-F238E27FC236}">
                <a16:creationId xmlns:a16="http://schemas.microsoft.com/office/drawing/2014/main" id="{677EA112-4BBA-70BB-C171-6CD34EDDDD3F}"/>
              </a:ext>
            </a:extLst>
          </p:cNvPr>
          <p:cNvSpPr/>
          <p:nvPr/>
        </p:nvSpPr>
        <p:spPr>
          <a:xfrm>
            <a:off x="5032440" y="5585535"/>
            <a:ext cx="2381250" cy="9525"/>
          </a:xfrm>
          <a:custGeom>
            <a:avLst/>
            <a:gdLst>
              <a:gd name="connsiteX0" fmla="*/ 0 w 2381250"/>
              <a:gd name="connsiteY0" fmla="*/ 0 h 9525"/>
              <a:gd name="connsiteX1" fmla="*/ 2381250 w 23812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4" name="フリーフォーム: 図形 283">
            <a:extLst>
              <a:ext uri="{FF2B5EF4-FFF2-40B4-BE49-F238E27FC236}">
                <a16:creationId xmlns:a16="http://schemas.microsoft.com/office/drawing/2014/main" id="{E7133C47-E8A8-7F90-01AD-74500AB6810F}"/>
              </a:ext>
            </a:extLst>
          </p:cNvPr>
          <p:cNvSpPr/>
          <p:nvPr/>
        </p:nvSpPr>
        <p:spPr>
          <a:xfrm>
            <a:off x="4961002" y="551409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5" name="フリーフォーム: 図形 284">
            <a:extLst>
              <a:ext uri="{FF2B5EF4-FFF2-40B4-BE49-F238E27FC236}">
                <a16:creationId xmlns:a16="http://schemas.microsoft.com/office/drawing/2014/main" id="{DCE70ACA-54E0-5D88-46C6-B2DE9AB36A0E}"/>
              </a:ext>
            </a:extLst>
          </p:cNvPr>
          <p:cNvSpPr/>
          <p:nvPr/>
        </p:nvSpPr>
        <p:spPr>
          <a:xfrm>
            <a:off x="7342252" y="551409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96" name="テキスト ボックス 295">
            <a:extLst>
              <a:ext uri="{FF2B5EF4-FFF2-40B4-BE49-F238E27FC236}">
                <a16:creationId xmlns:a16="http://schemas.microsoft.com/office/drawing/2014/main" id="{7CC3A4B4-2382-2C4B-8DC0-646C904CFE63}"/>
              </a:ext>
            </a:extLst>
          </p:cNvPr>
          <p:cNvSpPr txBox="1"/>
          <p:nvPr/>
        </p:nvSpPr>
        <p:spPr>
          <a:xfrm>
            <a:off x="1160781" y="3785741"/>
            <a:ext cx="22874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Calibration assessed</a:t>
            </a:r>
            <a:endParaRPr lang="ja-JP" altLang="en-US" sz="1600" dirty="0">
              <a:ln/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97" name="テキスト ボックス 296">
            <a:extLst>
              <a:ext uri="{FF2B5EF4-FFF2-40B4-BE49-F238E27FC236}">
                <a16:creationId xmlns:a16="http://schemas.microsoft.com/office/drawing/2014/main" id="{8299F59A-8476-1626-3381-F23013796FFA}"/>
              </a:ext>
            </a:extLst>
          </p:cNvPr>
          <p:cNvSpPr txBox="1"/>
          <p:nvPr/>
        </p:nvSpPr>
        <p:spPr>
          <a:xfrm>
            <a:off x="994830" y="4330919"/>
            <a:ext cx="2453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Nonlinearity considered</a:t>
            </a:r>
          </a:p>
        </p:txBody>
      </p:sp>
      <p:sp>
        <p:nvSpPr>
          <p:cNvPr id="298" name="テキスト ボックス 297">
            <a:extLst>
              <a:ext uri="{FF2B5EF4-FFF2-40B4-BE49-F238E27FC236}">
                <a16:creationId xmlns:a16="http://schemas.microsoft.com/office/drawing/2014/main" id="{C0D19616-7BFF-24A8-FA64-097514F90630}"/>
              </a:ext>
            </a:extLst>
          </p:cNvPr>
          <p:cNvSpPr txBox="1"/>
          <p:nvPr/>
        </p:nvSpPr>
        <p:spPr>
          <a:xfrm>
            <a:off x="994830" y="4876097"/>
            <a:ext cx="2453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Leakage addressed</a:t>
            </a:r>
          </a:p>
        </p:txBody>
      </p:sp>
      <p:sp>
        <p:nvSpPr>
          <p:cNvPr id="299" name="テキスト ボックス 298">
            <a:extLst>
              <a:ext uri="{FF2B5EF4-FFF2-40B4-BE49-F238E27FC236}">
                <a16:creationId xmlns:a16="http://schemas.microsoft.com/office/drawing/2014/main" id="{13C63939-3189-9732-6047-35CEAC4ED11E}"/>
              </a:ext>
            </a:extLst>
          </p:cNvPr>
          <p:cNvSpPr txBox="1"/>
          <p:nvPr/>
        </p:nvSpPr>
        <p:spPr>
          <a:xfrm>
            <a:off x="847367" y="5421275"/>
            <a:ext cx="2600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Generalizability evaluated</a:t>
            </a:r>
          </a:p>
        </p:txBody>
      </p:sp>
      <p:sp>
        <p:nvSpPr>
          <p:cNvPr id="300" name="テキスト ボックス 299">
            <a:extLst>
              <a:ext uri="{FF2B5EF4-FFF2-40B4-BE49-F238E27FC236}">
                <a16:creationId xmlns:a16="http://schemas.microsoft.com/office/drawing/2014/main" id="{F526E198-1875-6112-2D39-30F641DFCFA1}"/>
              </a:ext>
            </a:extLst>
          </p:cNvPr>
          <p:cNvSpPr txBox="1"/>
          <p:nvPr/>
        </p:nvSpPr>
        <p:spPr>
          <a:xfrm>
            <a:off x="6822176" y="5951657"/>
            <a:ext cx="1281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% of studies</a:t>
            </a:r>
          </a:p>
        </p:txBody>
      </p:sp>
      <p:sp>
        <p:nvSpPr>
          <p:cNvPr id="301" name="テキスト ボックス 300">
            <a:extLst>
              <a:ext uri="{FF2B5EF4-FFF2-40B4-BE49-F238E27FC236}">
                <a16:creationId xmlns:a16="http://schemas.microsoft.com/office/drawing/2014/main" id="{888DC143-BDDE-71B0-3663-14567285ECFD}"/>
              </a:ext>
            </a:extLst>
          </p:cNvPr>
          <p:cNvSpPr txBox="1"/>
          <p:nvPr/>
        </p:nvSpPr>
        <p:spPr>
          <a:xfrm>
            <a:off x="3461482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0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F33FD1-1AE5-2DF2-28FA-F52EF5014685}"/>
              </a:ext>
            </a:extLst>
          </p:cNvPr>
          <p:cNvSpPr txBox="1"/>
          <p:nvPr/>
        </p:nvSpPr>
        <p:spPr>
          <a:xfrm>
            <a:off x="5226424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25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2E18D5-32C7-29B0-84C5-7661FF4ABF4E}"/>
              </a:ext>
            </a:extLst>
          </p:cNvPr>
          <p:cNvSpPr txBox="1"/>
          <p:nvPr/>
        </p:nvSpPr>
        <p:spPr>
          <a:xfrm>
            <a:off x="7011897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50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7C9401-4DC2-6D98-1439-5BCE7FC79EFB}"/>
              </a:ext>
            </a:extLst>
          </p:cNvPr>
          <p:cNvSpPr txBox="1"/>
          <p:nvPr/>
        </p:nvSpPr>
        <p:spPr>
          <a:xfrm>
            <a:off x="8795535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75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FF24F8-94C6-9A4D-9029-DD6A6F383084}"/>
              </a:ext>
            </a:extLst>
          </p:cNvPr>
          <p:cNvSpPr txBox="1"/>
          <p:nvPr/>
        </p:nvSpPr>
        <p:spPr>
          <a:xfrm>
            <a:off x="10554401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100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55563A-E5B1-2DBB-024A-2EF8B9EC4554}"/>
              </a:ext>
            </a:extLst>
          </p:cNvPr>
          <p:cNvSpPr txBox="1"/>
          <p:nvPr/>
        </p:nvSpPr>
        <p:spPr>
          <a:xfrm>
            <a:off x="444608" y="3105034"/>
            <a:ext cx="5289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C</a:t>
            </a:r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. Validation </a:t>
            </a:r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Gaps and Lenient Gain</a:t>
            </a:r>
            <a:endParaRPr lang="en-US" altLang="ja-JP" b="1" i="0" u="none" strike="noStrike" dirty="0">
              <a:solidFill>
                <a:srgbClr val="1F2937"/>
              </a:solidFill>
              <a:effectLst/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F284760-32A7-2EC7-3C9C-E1298921DFD4}"/>
              </a:ext>
            </a:extLst>
          </p:cNvPr>
          <p:cNvCxnSpPr>
            <a:cxnSpLocks/>
          </p:cNvCxnSpPr>
          <p:nvPr/>
        </p:nvCxnSpPr>
        <p:spPr>
          <a:xfrm flipH="1">
            <a:off x="546401" y="3021554"/>
            <a:ext cx="11099198" cy="0"/>
          </a:xfrm>
          <a:prstGeom prst="line">
            <a:avLst/>
          </a:prstGeom>
          <a:ln w="285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129E24FD-67D9-6E62-C122-B87FD78723F6}"/>
              </a:ext>
            </a:extLst>
          </p:cNvPr>
          <p:cNvSpPr/>
          <p:nvPr/>
        </p:nvSpPr>
        <p:spPr>
          <a:xfrm>
            <a:off x="9121027" y="3800442"/>
            <a:ext cx="1515805" cy="660865"/>
          </a:xfrm>
          <a:custGeom>
            <a:avLst/>
            <a:gdLst>
              <a:gd name="connsiteX0" fmla="*/ 5667625 w 5715000"/>
              <a:gd name="connsiteY0" fmla="*/ 565 h 619125"/>
              <a:gd name="connsiteX1" fmla="*/ 5715250 w 5715000"/>
              <a:gd name="connsiteY1" fmla="*/ 565 h 619125"/>
              <a:gd name="connsiteX2" fmla="*/ 5715250 w 5715000"/>
              <a:gd name="connsiteY2" fmla="*/ 619690 h 619125"/>
              <a:gd name="connsiteX3" fmla="*/ 5667625 w 5715000"/>
              <a:gd name="connsiteY3" fmla="*/ 619690 h 619125"/>
              <a:gd name="connsiteX4" fmla="*/ 47875 w 5715000"/>
              <a:gd name="connsiteY4" fmla="*/ 619690 h 619125"/>
              <a:gd name="connsiteX5" fmla="*/ 250 w 5715000"/>
              <a:gd name="connsiteY5" fmla="*/ 619690 h 619125"/>
              <a:gd name="connsiteX6" fmla="*/ 250 w 5715000"/>
              <a:gd name="connsiteY6" fmla="*/ 565 h 619125"/>
              <a:gd name="connsiteX7" fmla="*/ 47875 w 5715000"/>
              <a:gd name="connsiteY7" fmla="*/ 56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0" h="619125">
                <a:moveTo>
                  <a:pt x="5667625" y="565"/>
                </a:moveTo>
                <a:cubicBezTo>
                  <a:pt x="5693928" y="565"/>
                  <a:pt x="5715250" y="565"/>
                  <a:pt x="5715250" y="565"/>
                </a:cubicBezTo>
                <a:lnTo>
                  <a:pt x="5715250" y="619690"/>
                </a:lnTo>
                <a:cubicBezTo>
                  <a:pt x="5715250" y="619690"/>
                  <a:pt x="5693928" y="619690"/>
                  <a:pt x="5667625" y="619690"/>
                </a:cubicBezTo>
                <a:lnTo>
                  <a:pt x="47875" y="619690"/>
                </a:lnTo>
                <a:cubicBezTo>
                  <a:pt x="21572" y="619690"/>
                  <a:pt x="250" y="619690"/>
                  <a:pt x="250" y="619690"/>
                </a:cubicBezTo>
                <a:lnTo>
                  <a:pt x="250" y="565"/>
                </a:lnTo>
                <a:cubicBezTo>
                  <a:pt x="250" y="565"/>
                  <a:pt x="21572" y="565"/>
                  <a:pt x="47875" y="565"/>
                </a:cubicBezTo>
                <a:close/>
              </a:path>
            </a:pathLst>
          </a:custGeom>
          <a:solidFill>
            <a:srgbClr val="FDFDFD"/>
          </a:solidFill>
          <a:ln w="9525" cap="flat">
            <a:solidFill>
              <a:srgbClr val="D1D5D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3200"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0" name="フリーフォーム: 図形 289">
            <a:extLst>
              <a:ext uri="{FF2B5EF4-FFF2-40B4-BE49-F238E27FC236}">
                <a16:creationId xmlns:a16="http://schemas.microsoft.com/office/drawing/2014/main" id="{3F63408C-F106-8825-D008-23CBA8A840B4}"/>
              </a:ext>
            </a:extLst>
          </p:cNvPr>
          <p:cNvSpPr/>
          <p:nvPr/>
        </p:nvSpPr>
        <p:spPr>
          <a:xfrm>
            <a:off x="9203632" y="3875336"/>
            <a:ext cx="133350" cy="133350"/>
          </a:xfrm>
          <a:custGeom>
            <a:avLst/>
            <a:gdLst>
              <a:gd name="connsiteX0" fmla="*/ 134050 w 133350"/>
              <a:gd name="connsiteY0" fmla="*/ 67085 h 133350"/>
              <a:gd name="connsiteX1" fmla="*/ 67375 w 133350"/>
              <a:gd name="connsiteY1" fmla="*/ 133760 h 133350"/>
              <a:gd name="connsiteX2" fmla="*/ 700 w 133350"/>
              <a:gd name="connsiteY2" fmla="*/ 67085 h 133350"/>
              <a:gd name="connsiteX3" fmla="*/ 67375 w 133350"/>
              <a:gd name="connsiteY3" fmla="*/ 410 h 133350"/>
              <a:gd name="connsiteX4" fmla="*/ 134050 w 133350"/>
              <a:gd name="connsiteY4" fmla="*/ 6708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4050" y="67085"/>
                </a:moveTo>
                <a:cubicBezTo>
                  <a:pt x="134050" y="103909"/>
                  <a:pt x="104199" y="133760"/>
                  <a:pt x="67375" y="133760"/>
                </a:cubicBezTo>
                <a:cubicBezTo>
                  <a:pt x="30551" y="133760"/>
                  <a:pt x="700" y="103909"/>
                  <a:pt x="700" y="67085"/>
                </a:cubicBezTo>
                <a:cubicBezTo>
                  <a:pt x="700" y="30261"/>
                  <a:pt x="30551" y="410"/>
                  <a:pt x="67375" y="410"/>
                </a:cubicBezTo>
                <a:cubicBezTo>
                  <a:pt x="104199" y="410"/>
                  <a:pt x="134050" y="30261"/>
                  <a:pt x="134050" y="67085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solidFill>
                <a:srgbClr val="5A6C7D"/>
              </a:solidFill>
            </a:endParaRPr>
          </a:p>
        </p:txBody>
      </p:sp>
      <p:sp>
        <p:nvSpPr>
          <p:cNvPr id="292" name="フリーフォーム: 図形 291">
            <a:extLst>
              <a:ext uri="{FF2B5EF4-FFF2-40B4-BE49-F238E27FC236}">
                <a16:creationId xmlns:a16="http://schemas.microsoft.com/office/drawing/2014/main" id="{C30E0571-A51E-1D0C-7B82-7338D6560889}"/>
              </a:ext>
            </a:extLst>
          </p:cNvPr>
          <p:cNvSpPr/>
          <p:nvPr/>
        </p:nvSpPr>
        <p:spPr>
          <a:xfrm>
            <a:off x="9203632" y="4065663"/>
            <a:ext cx="133350" cy="133350"/>
          </a:xfrm>
          <a:custGeom>
            <a:avLst/>
            <a:gdLst>
              <a:gd name="connsiteX0" fmla="*/ 134050 w 133350"/>
              <a:gd name="connsiteY0" fmla="*/ 67085 h 133350"/>
              <a:gd name="connsiteX1" fmla="*/ 67375 w 133350"/>
              <a:gd name="connsiteY1" fmla="*/ 133760 h 133350"/>
              <a:gd name="connsiteX2" fmla="*/ 700 w 133350"/>
              <a:gd name="connsiteY2" fmla="*/ 67085 h 133350"/>
              <a:gd name="connsiteX3" fmla="*/ 67375 w 133350"/>
              <a:gd name="connsiteY3" fmla="*/ 410 h 133350"/>
              <a:gd name="connsiteX4" fmla="*/ 134050 w 133350"/>
              <a:gd name="connsiteY4" fmla="*/ 6708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4050" y="67085"/>
                </a:moveTo>
                <a:cubicBezTo>
                  <a:pt x="134050" y="103909"/>
                  <a:pt x="104199" y="133760"/>
                  <a:pt x="67375" y="133760"/>
                </a:cubicBezTo>
                <a:cubicBezTo>
                  <a:pt x="30551" y="133760"/>
                  <a:pt x="700" y="103909"/>
                  <a:pt x="700" y="67085"/>
                </a:cubicBezTo>
                <a:cubicBezTo>
                  <a:pt x="700" y="30261"/>
                  <a:pt x="30551" y="410"/>
                  <a:pt x="67375" y="410"/>
                </a:cubicBezTo>
                <a:cubicBezTo>
                  <a:pt x="104199" y="410"/>
                  <a:pt x="134050" y="30261"/>
                  <a:pt x="134050" y="67085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solidFill>
                <a:srgbClr val="5A6C7D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0BA264-D492-6708-EEB8-0963F038B0A9}"/>
              </a:ext>
            </a:extLst>
          </p:cNvPr>
          <p:cNvSpPr txBox="1"/>
          <p:nvPr/>
        </p:nvSpPr>
        <p:spPr>
          <a:xfrm>
            <a:off x="4224325" y="3964175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13.7%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C686034-B1E2-6ED7-B15D-D5502DAA49D2}"/>
              </a:ext>
            </a:extLst>
          </p:cNvPr>
          <p:cNvSpPr txBox="1"/>
          <p:nvPr/>
        </p:nvSpPr>
        <p:spPr>
          <a:xfrm>
            <a:off x="5114067" y="3964175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25.0%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BE81C49-4670-3125-5D0C-FDB948DA70E7}"/>
              </a:ext>
            </a:extLst>
          </p:cNvPr>
          <p:cNvSpPr txBox="1"/>
          <p:nvPr/>
        </p:nvSpPr>
        <p:spPr>
          <a:xfrm>
            <a:off x="4530835" y="3701183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Δ+11.3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9E463FA-C0C6-0617-21C9-2A84BC957E8A}"/>
              </a:ext>
            </a:extLst>
          </p:cNvPr>
          <p:cNvSpPr txBox="1"/>
          <p:nvPr/>
        </p:nvSpPr>
        <p:spPr>
          <a:xfrm>
            <a:off x="9135190" y="4191612"/>
            <a:ext cx="1629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</a:t>
            </a:r>
            <a:r>
              <a:rPr lang="en-US" altLang="ja-JP" sz="10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ja-JP" altLang="en-US" sz="10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ja-JP" altLang="en-US" sz="6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Percentage-point gain</a:t>
            </a:r>
            <a:endParaRPr lang="ja-JP" altLang="en-US" sz="10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4F5530-482F-6205-6B60-35144D2EB6C1}"/>
              </a:ext>
            </a:extLst>
          </p:cNvPr>
          <p:cNvSpPr txBox="1"/>
          <p:nvPr/>
        </p:nvSpPr>
        <p:spPr>
          <a:xfrm>
            <a:off x="9308200" y="4016922"/>
            <a:ext cx="11453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Lenient (+Partial)</a:t>
            </a:r>
            <a:endParaRPr lang="ja-JP" altLang="en-US" sz="9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4BB468E-D3E8-28DF-80C8-FFA0F5AE8B26}"/>
              </a:ext>
            </a:extLst>
          </p:cNvPr>
          <p:cNvSpPr txBox="1"/>
          <p:nvPr/>
        </p:nvSpPr>
        <p:spPr>
          <a:xfrm>
            <a:off x="9308200" y="3828879"/>
            <a:ext cx="11453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Strict (Yes only)</a:t>
            </a:r>
            <a:endParaRPr lang="ja-JP" altLang="en-US" sz="9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C417129-9041-6511-A714-E4072F3DA059}"/>
              </a:ext>
            </a:extLst>
          </p:cNvPr>
          <p:cNvSpPr txBox="1"/>
          <p:nvPr/>
        </p:nvSpPr>
        <p:spPr>
          <a:xfrm>
            <a:off x="753571" y="3413029"/>
            <a:ext cx="28833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Sorted by </a:t>
            </a:r>
            <a:r>
              <a:rPr lang="en-US" altLang="ja-JP" sz="105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strict %</a:t>
            </a:r>
            <a:r>
              <a:rPr lang="en-US" altLang="ja-JP" sz="105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, generalizability anchored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48FD6A7-0110-36F0-B410-CD31756B2933}"/>
              </a:ext>
            </a:extLst>
          </p:cNvPr>
          <p:cNvSpPr txBox="1"/>
          <p:nvPr/>
        </p:nvSpPr>
        <p:spPr>
          <a:xfrm>
            <a:off x="4475241" y="4499920"/>
            <a:ext cx="506729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16.9%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176095-990B-AC54-D352-DDA654DFD921}"/>
              </a:ext>
            </a:extLst>
          </p:cNvPr>
          <p:cNvSpPr txBox="1"/>
          <p:nvPr/>
        </p:nvSpPr>
        <p:spPr>
          <a:xfrm>
            <a:off x="8105936" y="4499920"/>
            <a:ext cx="506729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68.5%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AA51D5A-74B9-9E46-3635-68D7EC776256}"/>
              </a:ext>
            </a:extLst>
          </p:cNvPr>
          <p:cNvSpPr txBox="1"/>
          <p:nvPr/>
        </p:nvSpPr>
        <p:spPr>
          <a:xfrm>
            <a:off x="6145620" y="4245526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Δ+51.6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6217F5-E4BF-4BFF-EEC5-3104BC37B095}"/>
              </a:ext>
            </a:extLst>
          </p:cNvPr>
          <p:cNvSpPr txBox="1"/>
          <p:nvPr/>
        </p:nvSpPr>
        <p:spPr>
          <a:xfrm>
            <a:off x="4777150" y="4735431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Δ+0.0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0F39B7F-4CC7-FF86-EF52-F82A0E3FF043}"/>
              </a:ext>
            </a:extLst>
          </p:cNvPr>
          <p:cNvSpPr txBox="1"/>
          <p:nvPr/>
        </p:nvSpPr>
        <p:spPr>
          <a:xfrm>
            <a:off x="4926043" y="508374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23.4%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FB8E052-A76B-946E-021B-17D84C31C10B}"/>
              </a:ext>
            </a:extLst>
          </p:cNvPr>
          <p:cNvSpPr txBox="1"/>
          <p:nvPr/>
        </p:nvSpPr>
        <p:spPr>
          <a:xfrm>
            <a:off x="4788011" y="560181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22.6%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5068EAD-8BA5-9B51-0845-789723EE2000}"/>
              </a:ext>
            </a:extLst>
          </p:cNvPr>
          <p:cNvSpPr txBox="1"/>
          <p:nvPr/>
        </p:nvSpPr>
        <p:spPr>
          <a:xfrm>
            <a:off x="5906093" y="5341385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Δ+31.4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F962397-71D8-05BD-4B26-8AC59D258AAB}"/>
              </a:ext>
            </a:extLst>
          </p:cNvPr>
          <p:cNvSpPr txBox="1"/>
          <p:nvPr/>
        </p:nvSpPr>
        <p:spPr>
          <a:xfrm>
            <a:off x="7171192" y="560181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54.0%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987CDC-F74A-22AA-C292-E67B525ACF39}"/>
              </a:ext>
            </a:extLst>
          </p:cNvPr>
          <p:cNvSpPr txBox="1"/>
          <p:nvPr/>
        </p:nvSpPr>
        <p:spPr>
          <a:xfrm>
            <a:off x="1388869" y="6291122"/>
            <a:ext cx="9414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性能指標の報告は約半数、予測妥当性や一般化可能性の検証にギャップあり</a:t>
            </a:r>
          </a:p>
        </p:txBody>
      </p:sp>
    </p:spTree>
    <p:extLst>
      <p:ext uri="{BB962C8B-B14F-4D97-AF65-F5344CB8AC3E}">
        <p14:creationId xmlns:p14="http://schemas.microsoft.com/office/powerpoint/2010/main" val="165142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A155-24AC-D913-ACE1-F489C15F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55AD43C-609F-71FF-B909-B9EEAD46BD77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E902F821-D324-1A52-745C-70767649D5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研究の現状と課題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24DAE8E-702F-A999-A03C-F7C2DC116CB2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D754E754-2752-17BC-8BCF-5FC0AC7C57AD}"/>
              </a:ext>
            </a:extLst>
          </p:cNvPr>
          <p:cNvSpPr txBox="1">
            <a:spLocks/>
          </p:cNvSpPr>
          <p:nvPr/>
        </p:nvSpPr>
        <p:spPr>
          <a:xfrm>
            <a:off x="838198" y="1941186"/>
            <a:ext cx="112904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方法論の多様化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年以降研究が急増。線形モデルから階層ベイズ、深層生成モデルまで手法が多様化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標準化と検証の不足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性能指標の報告は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48%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、外部検証は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23%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のみ。統一的な報告基準が未確立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臨床応用の偏り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構造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による統合失調症・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研究に集中し、他疾患やマルチモーダル解析は限定的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b="1" dirty="0">
                <a:solidFill>
                  <a:srgbClr val="3F51B5"/>
                </a:solidFill>
                <a:latin typeface="+mn-ea"/>
              </a:rPr>
              <a:t>標準化指針の必要性</a:t>
            </a:r>
            <a:endParaRPr lang="en-US" altLang="ja-JP" b="1" dirty="0">
              <a:solidFill>
                <a:srgbClr val="3F51B5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参照コホート仕様、分割戦略、データリーク対策など再現可能で臨床応用可能な研究の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ための統一的な報告基準（</a:t>
            </a:r>
            <a:r>
              <a:rPr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）の確立が急務 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95EFED-2A12-E1A6-FE7F-B965EA403006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16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84849-FC84-20EC-C44E-7D74344D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5026C38-CE4E-361B-B367-F7631D2DC0A6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071298C0-8FB3-1B38-EA61-44FA3D08A7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endParaRPr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7D4186-E0E2-4547-A668-42EF0C9F7436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3BFC3122-9F4B-DE09-FD37-0E3A117E6DF6}"/>
              </a:ext>
            </a:extLst>
          </p:cNvPr>
          <p:cNvSpPr txBox="1">
            <a:spLocks/>
          </p:cNvSpPr>
          <p:nvPr/>
        </p:nvSpPr>
        <p:spPr>
          <a:xfrm>
            <a:off x="838200" y="1786267"/>
            <a:ext cx="53527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① 参照コホート仕様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使用データセット、</a:t>
            </a:r>
            <a:r>
              <a:rPr lang="ja-JP" altLang="en-US" sz="1800" dirty="0">
                <a:solidFill>
                  <a:srgbClr val="374151"/>
                </a:solidFill>
              </a:rPr>
              <a:t>年齢・性別分布、サイト数、品質管理（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QC</a:t>
            </a:r>
            <a:r>
              <a:rPr lang="ja-JP" altLang="en-US" sz="1800" dirty="0">
                <a:solidFill>
                  <a:srgbClr val="374151"/>
                </a:solidFill>
              </a:rPr>
              <a:t>）閾値の明記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② 分割戦略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外部検証、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LOSO</a:t>
            </a:r>
            <a:r>
              <a:rPr lang="ja-JP" altLang="en-US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、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k-fold</a:t>
            </a:r>
            <a:r>
              <a:rPr lang="ja-JP" altLang="en-US" sz="1800" dirty="0">
                <a:solidFill>
                  <a:srgbClr val="374151"/>
                </a:solidFill>
              </a:rPr>
              <a:t>など検証方法の明示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③ データリーク対策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前処理・モデル最適化の各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fold</a:t>
            </a:r>
            <a:r>
              <a:rPr lang="ja-JP" altLang="en-US" sz="1800" dirty="0">
                <a:solidFill>
                  <a:srgbClr val="374151"/>
                </a:solidFill>
              </a:rPr>
              <a:t>内完結による</a:t>
            </a:r>
            <a:br>
              <a:rPr lang="en-US" altLang="ja-JP" sz="1800" dirty="0">
                <a:solidFill>
                  <a:srgbClr val="374151"/>
                </a:solidFill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手順の記載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④ 不確実性の扱い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偶然的不確実性（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aleatoric</a:t>
            </a:r>
            <a:r>
              <a:rPr lang="ja-JP" altLang="en-US" sz="1800" dirty="0">
                <a:solidFill>
                  <a:srgbClr val="374151"/>
                </a:solidFill>
              </a:rPr>
              <a:t>）と認識的不確実性（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epistemic</a:t>
            </a:r>
            <a:r>
              <a:rPr lang="ja-JP" altLang="en-US" sz="1800" dirty="0">
                <a:solidFill>
                  <a:srgbClr val="374151"/>
                </a:solidFill>
              </a:rPr>
              <a:t>）の定量化方法</a:t>
            </a:r>
            <a:endParaRPr lang="ja-JP" altLang="en-US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DC97D0-858E-F6D3-B172-FBD8809A6677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71B53C-78E7-BE25-AA66-7EBAED4CFB71}"/>
              </a:ext>
            </a:extLst>
          </p:cNvPr>
          <p:cNvSpPr txBox="1">
            <a:spLocks/>
          </p:cNvSpPr>
          <p:nvPr/>
        </p:nvSpPr>
        <p:spPr>
          <a:xfrm>
            <a:off x="6463134" y="1786267"/>
            <a:ext cx="53527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⑤ 性能評価指標</a:t>
            </a:r>
            <a:br>
              <a:rPr lang="en-US" altLang="ja-JP" sz="1800" b="1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予測精度（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）、確率的精度（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CRPS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）、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信頼区間被覆率など主要指標の報告</a:t>
            </a:r>
            <a:endParaRPr lang="en-US" altLang="ja-JP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⑥ ハーモナイズ手法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en-US" altLang="ja-JP" sz="18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ComBat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altLang="ja-JP" sz="18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ComBat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-GAM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など使用手法と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調整共変量の詳細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⑦ 再現性資材の公開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解析コード、学習済みモデル、臨床判断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閾値の共有</a:t>
            </a:r>
            <a:endParaRPr lang="en-US" altLang="ja-JP" sz="1800" dirty="0">
              <a:solidFill>
                <a:srgbClr val="37415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4289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28DE-6784-9BF2-8CDF-4D279682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B1C5757-D37D-34BF-214D-94A4C81EAB03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E057900E-F630-64FB-FFBB-8FEF7CE7F28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</a:rPr>
              <a:t> 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方法論的限界と実装上の留意点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042CBCD-1D1E-5F85-24DC-71B5FC7C5A1D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C67E68A-C30B-D5D0-12D4-F893E08952AA}"/>
              </a:ext>
            </a:extLst>
          </p:cNvPr>
          <p:cNvSpPr txBox="1">
            <a:spLocks/>
          </p:cNvSpPr>
          <p:nvPr/>
        </p:nvSpPr>
        <p:spPr>
          <a:xfrm>
            <a:off x="946231" y="1792804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縦断データへの適用制限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横断モデルが主流で個人追跡への適用は限定的。縦断モデルや、速度チャートの標準化が今後の課題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ja-JP" sz="21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Fraza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Neurosci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Biobehav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Rev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2025)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647E4E-CD95-698E-A631-A57A4223AAB7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0C70485-D334-9A4D-FF05-1EBBE774CEA9}"/>
              </a:ext>
            </a:extLst>
          </p:cNvPr>
          <p:cNvSpPr txBox="1">
            <a:spLocks/>
          </p:cNvSpPr>
          <p:nvPr/>
        </p:nvSpPr>
        <p:spPr>
          <a:xfrm>
            <a:off x="946231" y="4257945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多次元情報の集約による情報損失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領域間の非同期的発達を、単一スコアに集約すると局所的異常が相殺され見逃される可能性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Whitmore &amp; Beck, 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 Commun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405FC202-CF94-1B99-FD8F-4F07ED45710A}"/>
              </a:ext>
            </a:extLst>
          </p:cNvPr>
          <p:cNvSpPr txBox="1">
            <a:spLocks/>
          </p:cNvSpPr>
          <p:nvPr/>
        </p:nvSpPr>
        <p:spPr>
          <a:xfrm>
            <a:off x="6235709" y="1792804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参照集団の代表性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WEIRD</a:t>
            </a:r>
            <a:r>
              <a:rPr lang="ja-JP" altLang="en-US" sz="2100" dirty="0">
                <a:solidFill>
                  <a:srgbClr val="374151"/>
                </a:solidFill>
              </a:rPr>
              <a:t>集団偏重のため、マイノリティへの適用には妥当性検証が必要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Rutherford,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eLife</a:t>
            </a:r>
            <a:r>
              <a:rPr lang="ja-JP" altLang="en-US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2022)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78346BA7-EF27-3C78-C129-28E2F047FBEB}"/>
              </a:ext>
            </a:extLst>
          </p:cNvPr>
          <p:cNvSpPr txBox="1">
            <a:spLocks/>
          </p:cNvSpPr>
          <p:nvPr/>
        </p:nvSpPr>
        <p:spPr>
          <a:xfrm>
            <a:off x="6235709" y="4257945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早期介入の不確実性と倫理的責任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逸脱スコアの解釈は慎重に。決定論的な表現を避け、スティグマやラベリングに配慮した用語選択が重要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Whitmore &amp; Beck, 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 Commun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769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89245-812D-F549-EF66-FE8509D5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A9EA33A-810E-EF88-57DC-9AAA715A83F1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4EFE2E8-F7AA-69DF-2BC3-3651D2E1FEF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結語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3209176-9352-D65B-56B1-A2B686BA366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3E770DD-88BA-5F36-F178-197E259998D3}"/>
              </a:ext>
            </a:extLst>
          </p:cNvPr>
          <p:cNvSpPr txBox="1">
            <a:spLocks/>
          </p:cNvSpPr>
          <p:nvPr/>
        </p:nvSpPr>
        <p:spPr>
          <a:xfrm>
            <a:off x="838200" y="1880222"/>
            <a:ext cx="10744200" cy="4785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急速に発展する有望な研究領域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en-US" altLang="ja-JP" sz="22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研究は近年急増し、精神神経疾患の個別化医療への道筋を</a:t>
            </a:r>
            <a:br>
              <a:rPr lang="en-US" altLang="ja-JP" sz="22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示す大きなポテンシャルを持つ</a:t>
            </a:r>
            <a:endParaRPr lang="en-US" altLang="ja-JP" sz="22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標準化とベストプラクティスの確立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統一的な報告基準の策定、検証手法の洗練により、方法論的多様性を活かした</a:t>
            </a:r>
            <a:br>
              <a:rPr lang="en-US" altLang="ja-JP" sz="22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堅牢な研究基盤の構築が可能</a:t>
            </a:r>
            <a:endParaRPr lang="en-US" altLang="ja-JP" sz="22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継続的な発展への期待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適切な縦断モデルの開発、代表性の高い参照コホート構築、倫理的配慮を伴った慎重な実装が今後の発展を支える</a:t>
            </a:r>
            <a:endParaRPr lang="ja-JP" altLang="en-US" sz="2200" b="1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35544C-F159-4301-EBE6-17AC708FE5E5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7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4A54A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6730</TotalTime>
  <Words>2096</Words>
  <Application>Microsoft Office PowerPoint</Application>
  <PresentationFormat>ワイド画面</PresentationFormat>
  <Paragraphs>364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游ゴシック</vt:lpstr>
      <vt:lpstr>游ゴシック Light</vt:lpstr>
      <vt:lpstr>Arial</vt:lpstr>
      <vt:lpstr>Segoe UI</vt:lpstr>
      <vt:lpstr>Wingdings</vt:lpstr>
      <vt:lpstr>Office テーマ</vt:lpstr>
      <vt:lpstr>精神神経疾患の神経画像における Normative Modeling 方法論的多様性と標準化に関する系統的レビュー</vt:lpstr>
      <vt:lpstr>PowerPoint プレゼンテーション</vt:lpstr>
      <vt:lpstr>背景 | 脳画像におけるNormative Modelingの意義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Naoki Takamatsu</dc:creator>
  <cp:lastModifiedBy>Naoki Takamatsu</cp:lastModifiedBy>
  <cp:revision>194</cp:revision>
  <cp:lastPrinted>2025-09-30T16:13:10Z</cp:lastPrinted>
  <dcterms:created xsi:type="dcterms:W3CDTF">2025-09-25T05:21:08Z</dcterms:created>
  <dcterms:modified xsi:type="dcterms:W3CDTF">2025-11-29T21:59:18Z</dcterms:modified>
</cp:coreProperties>
</file>